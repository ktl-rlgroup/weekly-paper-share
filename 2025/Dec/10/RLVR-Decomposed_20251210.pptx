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731" r:id="rId2"/>
  </p:sldMasterIdLst>
  <p:notesMasterIdLst>
    <p:notesMasterId r:id="rId16"/>
  </p:notesMasterIdLst>
  <p:sldIdLst>
    <p:sldId id="636" r:id="rId3"/>
    <p:sldId id="671" r:id="rId4"/>
    <p:sldId id="674" r:id="rId5"/>
    <p:sldId id="683" r:id="rId6"/>
    <p:sldId id="684" r:id="rId7"/>
    <p:sldId id="685" r:id="rId8"/>
    <p:sldId id="686" r:id="rId9"/>
    <p:sldId id="687" r:id="rId10"/>
    <p:sldId id="688" r:id="rId11"/>
    <p:sldId id="691" r:id="rId12"/>
    <p:sldId id="690" r:id="rId13"/>
    <p:sldId id="689" r:id="rId14"/>
    <p:sldId id="624"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extLst>
      <p:ext uri="{19B8F6BF-5375-455C-9EA6-DF929625EA0E}">
        <p15:presenceInfo xmlns:p15="http://schemas.microsoft.com/office/powerpoint/2012/main" userId="42218d51efea374b" providerId="Windows Live"/>
      </p:ext>
    </p:extLst>
  </p:cmAuthor>
  <p:cmAuthor id="2" name="Fish Zheng" initials="FZ" lastIdx="1" clrIdx="1">
    <p:extLst>
      <p:ext uri="{19B8F6BF-5375-455C-9EA6-DF929625EA0E}">
        <p15:presenceInfo xmlns:p15="http://schemas.microsoft.com/office/powerpoint/2012/main" userId="784d355a392b2c5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BAC"/>
    <a:srgbClr val="A6A6A6"/>
    <a:srgbClr val="9A0001"/>
    <a:srgbClr val="BFBFBF"/>
    <a:srgbClr val="CEAB6E"/>
    <a:srgbClr val="B1B1B1"/>
    <a:srgbClr val="063771"/>
    <a:srgbClr val="222A35"/>
    <a:srgbClr val="A2334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7" autoAdjust="0"/>
    <p:restoredTop sz="92980" autoAdjust="0"/>
  </p:normalViewPr>
  <p:slideViewPr>
    <p:cSldViewPr snapToGrid="0">
      <p:cViewPr varScale="1">
        <p:scale>
          <a:sx n="86" d="100"/>
          <a:sy n="86" d="100"/>
        </p:scale>
        <p:origin x="48" y="33"/>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41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t>2025/12/10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t>‹#›</a:t>
            </a:fld>
            <a:endParaRPr lang="zh-CN" altLang="en-US"/>
          </a:p>
        </p:txBody>
      </p:sp>
    </p:spTree>
    <p:extLst>
      <p:ext uri="{BB962C8B-B14F-4D97-AF65-F5344CB8AC3E}">
        <p14:creationId xmlns:p14="http://schemas.microsoft.com/office/powerpoint/2010/main" val="2271869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a:t>
            </a:fld>
            <a:endParaRPr lang="zh-CN" altLang="en-US"/>
          </a:p>
        </p:txBody>
      </p:sp>
    </p:spTree>
    <p:extLst>
      <p:ext uri="{BB962C8B-B14F-4D97-AF65-F5344CB8AC3E}">
        <p14:creationId xmlns:p14="http://schemas.microsoft.com/office/powerpoint/2010/main" val="3579408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9B26-D337-F351-F4F1-D7CAAB3E21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A5C5E4-640F-F112-A99B-BDEA237382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EB2ED08-1F98-7454-B4BF-14FC5C1516A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15FE5D3-69F1-2FEE-A72D-2FD1036BDF2D}"/>
              </a:ext>
            </a:extLst>
          </p:cNvPr>
          <p:cNvSpPr>
            <a:spLocks noGrp="1"/>
          </p:cNvSpPr>
          <p:nvPr>
            <p:ph type="sldNum" sz="quarter" idx="5"/>
          </p:nvPr>
        </p:nvSpPr>
        <p:spPr/>
        <p:txBody>
          <a:bodyPr/>
          <a:lstStyle/>
          <a:p>
            <a:fld id="{C2A75D99-2AE7-49F1-BB03-59E2BF5579C1}" type="slidenum">
              <a:rPr lang="zh-CN" altLang="en-US" smtClean="0"/>
              <a:t>3</a:t>
            </a:fld>
            <a:endParaRPr lang="zh-CN" altLang="en-US"/>
          </a:p>
        </p:txBody>
      </p:sp>
    </p:spTree>
    <p:extLst>
      <p:ext uri="{BB962C8B-B14F-4D97-AF65-F5344CB8AC3E}">
        <p14:creationId xmlns:p14="http://schemas.microsoft.com/office/powerpoint/2010/main" val="3897288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745F4-E990-CD00-A8EA-C81EA34B17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3A496F-2B1C-639D-956B-63E7B41FA0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0B0EA7-5E0D-0D79-961B-E162DDFABA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87DDA71-0E64-645B-16C9-EF264B719BD4}"/>
              </a:ext>
            </a:extLst>
          </p:cNvPr>
          <p:cNvSpPr>
            <a:spLocks noGrp="1"/>
          </p:cNvSpPr>
          <p:nvPr>
            <p:ph type="sldNum" sz="quarter" idx="5"/>
          </p:nvPr>
        </p:nvSpPr>
        <p:spPr/>
        <p:txBody>
          <a:bodyPr/>
          <a:lstStyle/>
          <a:p>
            <a:fld id="{C2A75D99-2AE7-49F1-BB03-59E2BF5579C1}" type="slidenum">
              <a:rPr lang="zh-CN" altLang="en-US" smtClean="0"/>
              <a:t>4</a:t>
            </a:fld>
            <a:endParaRPr lang="zh-CN" altLang="en-US"/>
          </a:p>
        </p:txBody>
      </p:sp>
    </p:spTree>
    <p:extLst>
      <p:ext uri="{BB962C8B-B14F-4D97-AF65-F5344CB8AC3E}">
        <p14:creationId xmlns:p14="http://schemas.microsoft.com/office/powerpoint/2010/main" val="3395319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3F2DB-65E2-1B67-9E5B-47AD742303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ECD80-2C62-B5EE-269F-58CB0A27F1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11A52A-AFDA-C003-E6DC-A616FE1236E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FBC9A75-F127-550E-6484-C060E8F605BA}"/>
              </a:ext>
            </a:extLst>
          </p:cNvPr>
          <p:cNvSpPr>
            <a:spLocks noGrp="1"/>
          </p:cNvSpPr>
          <p:nvPr>
            <p:ph type="sldNum" sz="quarter" idx="5"/>
          </p:nvPr>
        </p:nvSpPr>
        <p:spPr/>
        <p:txBody>
          <a:bodyPr/>
          <a:lstStyle/>
          <a:p>
            <a:fld id="{C2A75D99-2AE7-49F1-BB03-59E2BF5579C1}" type="slidenum">
              <a:rPr lang="zh-CN" altLang="en-US" smtClean="0"/>
              <a:t>5</a:t>
            </a:fld>
            <a:endParaRPr lang="zh-CN" altLang="en-US"/>
          </a:p>
        </p:txBody>
      </p:sp>
    </p:spTree>
    <p:extLst>
      <p:ext uri="{BB962C8B-B14F-4D97-AF65-F5344CB8AC3E}">
        <p14:creationId xmlns:p14="http://schemas.microsoft.com/office/powerpoint/2010/main" val="2114855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9FE5F-CDA9-4BB3-595F-C0CF84D668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7975A7-9715-01C2-9671-3E33C69EC7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BAC154-051E-C93D-C6DD-206F98324BC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2F8C148-7E40-E2FA-07EE-ECDCE46BDB7C}"/>
              </a:ext>
            </a:extLst>
          </p:cNvPr>
          <p:cNvSpPr>
            <a:spLocks noGrp="1"/>
          </p:cNvSpPr>
          <p:nvPr>
            <p:ph type="sldNum" sz="quarter" idx="5"/>
          </p:nvPr>
        </p:nvSpPr>
        <p:spPr/>
        <p:txBody>
          <a:bodyPr/>
          <a:lstStyle/>
          <a:p>
            <a:fld id="{C2A75D99-2AE7-49F1-BB03-59E2BF5579C1}" type="slidenum">
              <a:rPr lang="zh-CN" altLang="en-US" smtClean="0"/>
              <a:t>6</a:t>
            </a:fld>
            <a:endParaRPr lang="zh-CN" altLang="en-US"/>
          </a:p>
        </p:txBody>
      </p:sp>
    </p:spTree>
    <p:extLst>
      <p:ext uri="{BB962C8B-B14F-4D97-AF65-F5344CB8AC3E}">
        <p14:creationId xmlns:p14="http://schemas.microsoft.com/office/powerpoint/2010/main" val="36369889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5A2D7-F86B-6F2C-0AA4-AD187ECC9C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02950C-2557-14C1-1D5F-59F7B086BA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BEE4F6-735D-C0A6-0F93-590CE4FB9DC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E999C9E-3CD5-5B8A-C0F1-78977BB5E011}"/>
              </a:ext>
            </a:extLst>
          </p:cNvPr>
          <p:cNvSpPr>
            <a:spLocks noGrp="1"/>
          </p:cNvSpPr>
          <p:nvPr>
            <p:ph type="sldNum" sz="quarter" idx="5"/>
          </p:nvPr>
        </p:nvSpPr>
        <p:spPr/>
        <p:txBody>
          <a:bodyPr/>
          <a:lstStyle/>
          <a:p>
            <a:fld id="{C2A75D99-2AE7-49F1-BB03-59E2BF5579C1}" type="slidenum">
              <a:rPr lang="zh-CN" altLang="en-US" smtClean="0"/>
              <a:t>7</a:t>
            </a:fld>
            <a:endParaRPr lang="zh-CN" altLang="en-US"/>
          </a:p>
        </p:txBody>
      </p:sp>
    </p:spTree>
    <p:extLst>
      <p:ext uri="{BB962C8B-B14F-4D97-AF65-F5344CB8AC3E}">
        <p14:creationId xmlns:p14="http://schemas.microsoft.com/office/powerpoint/2010/main" val="2603402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4572D-AA53-1E6E-D05A-F7D0453791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68DEFB-03CA-5D7B-EEDD-E193E94538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5EF5F0-5884-071A-93E6-D3C1F42EA2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PPO </a:t>
            </a:r>
            <a:r>
              <a:rPr lang="zh-CN" altLang="en-US" sz="1200" dirty="0"/>
              <a:t>在训练后期出现熵回升：可能因为它有 </a:t>
            </a:r>
            <a:r>
              <a:rPr lang="en-US" altLang="zh-CN" sz="1200" dirty="0"/>
              <a:t>critic model</a:t>
            </a:r>
            <a:r>
              <a:rPr lang="zh-CN" altLang="en-US" sz="1200" dirty="0"/>
              <a:t>，所以优势估计更有探索性。</a:t>
            </a:r>
          </a:p>
          <a:p>
            <a:endParaRPr lang="zh-CN" altLang="en-US" dirty="0"/>
          </a:p>
        </p:txBody>
      </p:sp>
      <p:sp>
        <p:nvSpPr>
          <p:cNvPr id="4" name="灯片编号占位符 3">
            <a:extLst>
              <a:ext uri="{FF2B5EF4-FFF2-40B4-BE49-F238E27FC236}">
                <a16:creationId xmlns:a16="http://schemas.microsoft.com/office/drawing/2014/main" id="{A6BD78AB-255B-1B3A-BFEB-4F7FF0184293}"/>
              </a:ext>
            </a:extLst>
          </p:cNvPr>
          <p:cNvSpPr>
            <a:spLocks noGrp="1"/>
          </p:cNvSpPr>
          <p:nvPr>
            <p:ph type="sldNum" sz="quarter" idx="5"/>
          </p:nvPr>
        </p:nvSpPr>
        <p:spPr/>
        <p:txBody>
          <a:bodyPr/>
          <a:lstStyle/>
          <a:p>
            <a:fld id="{C2A75D99-2AE7-49F1-BB03-59E2BF5579C1}" type="slidenum">
              <a:rPr lang="zh-CN" altLang="en-US" smtClean="0"/>
              <a:t>8</a:t>
            </a:fld>
            <a:endParaRPr lang="zh-CN" altLang="en-US"/>
          </a:p>
        </p:txBody>
      </p:sp>
    </p:spTree>
    <p:extLst>
      <p:ext uri="{BB962C8B-B14F-4D97-AF65-F5344CB8AC3E}">
        <p14:creationId xmlns:p14="http://schemas.microsoft.com/office/powerpoint/2010/main" val="3130144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7A72A-595E-843E-DEED-68E032A595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4A90A6-D335-74E5-72DF-CF10C187A5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D0158F-FEEB-91F1-68D0-174F929A181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733E180-F420-DEE6-F03E-8DB12DDF41D1}"/>
              </a:ext>
            </a:extLst>
          </p:cNvPr>
          <p:cNvSpPr>
            <a:spLocks noGrp="1"/>
          </p:cNvSpPr>
          <p:nvPr>
            <p:ph type="sldNum" sz="quarter" idx="5"/>
          </p:nvPr>
        </p:nvSpPr>
        <p:spPr/>
        <p:txBody>
          <a:bodyPr/>
          <a:lstStyle/>
          <a:p>
            <a:fld id="{C2A75D99-2AE7-49F1-BB03-59E2BF5579C1}" type="slidenum">
              <a:rPr lang="zh-CN" altLang="en-US" smtClean="0"/>
              <a:t>9</a:t>
            </a:fld>
            <a:endParaRPr lang="zh-CN" altLang="en-US"/>
          </a:p>
        </p:txBody>
      </p:sp>
    </p:spTree>
    <p:extLst>
      <p:ext uri="{BB962C8B-B14F-4D97-AF65-F5344CB8AC3E}">
        <p14:creationId xmlns:p14="http://schemas.microsoft.com/office/powerpoint/2010/main" val="261571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69072-1061-E10A-4064-63F526A44B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6904C2-8B4F-64CB-ED4A-1596AD5366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B8F59D-DF8D-839D-E481-6BF2575AC8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55B3583-11D6-24F3-A05F-4C4A6CA99890}"/>
              </a:ext>
            </a:extLst>
          </p:cNvPr>
          <p:cNvSpPr>
            <a:spLocks noGrp="1"/>
          </p:cNvSpPr>
          <p:nvPr>
            <p:ph type="sldNum" sz="quarter" idx="5"/>
          </p:nvPr>
        </p:nvSpPr>
        <p:spPr/>
        <p:txBody>
          <a:bodyPr/>
          <a:lstStyle/>
          <a:p>
            <a:fld id="{C2A75D99-2AE7-49F1-BB03-59E2BF5579C1}" type="slidenum">
              <a:rPr lang="zh-CN" altLang="en-US" smtClean="0"/>
              <a:t>10</a:t>
            </a:fld>
            <a:endParaRPr lang="zh-CN" altLang="en-US"/>
          </a:p>
        </p:txBody>
      </p:sp>
    </p:spTree>
    <p:extLst>
      <p:ext uri="{BB962C8B-B14F-4D97-AF65-F5344CB8AC3E}">
        <p14:creationId xmlns:p14="http://schemas.microsoft.com/office/powerpoint/2010/main" val="879163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85B25-5F76-F4BC-D892-E4A88C7D0B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7407DD-C980-D6B8-FFEA-AEF9DE8679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129285-66EB-148E-A3B7-D7CE2AEC586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B3C5B80-8C40-0CC0-8DF4-68FC34C327CB}"/>
              </a:ext>
            </a:extLst>
          </p:cNvPr>
          <p:cNvSpPr>
            <a:spLocks noGrp="1"/>
          </p:cNvSpPr>
          <p:nvPr>
            <p:ph type="sldNum" sz="quarter" idx="5"/>
          </p:nvPr>
        </p:nvSpPr>
        <p:spPr/>
        <p:txBody>
          <a:bodyPr/>
          <a:lstStyle/>
          <a:p>
            <a:fld id="{C2A75D99-2AE7-49F1-BB03-59E2BF5579C1}" type="slidenum">
              <a:rPr lang="zh-CN" altLang="en-US" smtClean="0"/>
              <a:t>11</a:t>
            </a:fld>
            <a:endParaRPr lang="zh-CN" altLang="en-US"/>
          </a:p>
        </p:txBody>
      </p:sp>
    </p:spTree>
    <p:extLst>
      <p:ext uri="{BB962C8B-B14F-4D97-AF65-F5344CB8AC3E}">
        <p14:creationId xmlns:p14="http://schemas.microsoft.com/office/powerpoint/2010/main" val="1260957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560B5-BAA3-7E6C-BB83-0546A6D668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103E2B-1796-16AE-23D0-4054BE2D1E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B9B38F-2ADD-1F6F-1C9F-9BBA227BB06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C708C2A-A17C-BF68-1EBC-7BA3D4250580}"/>
              </a:ext>
            </a:extLst>
          </p:cNvPr>
          <p:cNvSpPr>
            <a:spLocks noGrp="1"/>
          </p:cNvSpPr>
          <p:nvPr>
            <p:ph type="sldNum" sz="quarter" idx="5"/>
          </p:nvPr>
        </p:nvSpPr>
        <p:spPr/>
        <p:txBody>
          <a:bodyPr/>
          <a:lstStyle/>
          <a:p>
            <a:fld id="{C2A75D99-2AE7-49F1-BB03-59E2BF5579C1}" type="slidenum">
              <a:rPr lang="zh-CN" altLang="en-US" smtClean="0"/>
              <a:t>12</a:t>
            </a:fld>
            <a:endParaRPr lang="zh-CN" altLang="en-US"/>
          </a:p>
        </p:txBody>
      </p:sp>
    </p:spTree>
    <p:extLst>
      <p:ext uri="{BB962C8B-B14F-4D97-AF65-F5344CB8AC3E}">
        <p14:creationId xmlns:p14="http://schemas.microsoft.com/office/powerpoint/2010/main" val="1373574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13</a:t>
            </a:fld>
            <a:endParaRPr lang="zh-CN" altLang="en-US"/>
          </a:p>
        </p:txBody>
      </p:sp>
    </p:spTree>
    <p:extLst>
      <p:ext uri="{BB962C8B-B14F-4D97-AF65-F5344CB8AC3E}">
        <p14:creationId xmlns:p14="http://schemas.microsoft.com/office/powerpoint/2010/main" val="25361798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rgbClr val="005BAC"/>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pic>
        <p:nvPicPr>
          <p:cNvPr id="30" name="图片 29">
            <a:extLst>
              <a:ext uri="{FF2B5EF4-FFF2-40B4-BE49-F238E27FC236}">
                <a16:creationId xmlns:a16="http://schemas.microsoft.com/office/drawing/2014/main" id="{C3F87AAC-5FA9-4257-92DC-4EEB1E30AA86}"/>
              </a:ext>
            </a:extLst>
          </p:cNvPr>
          <p:cNvPicPr>
            <a:picLocks noChangeAspect="1"/>
          </p:cNvPicPr>
          <p:nvPr userDrawn="1"/>
        </p:nvPicPr>
        <p:blipFill rotWithShape="1">
          <a:blip r:embed="rId2"/>
          <a:srcRect l="23738" t="3312" r="23201" b="2357"/>
          <a:stretch/>
        </p:blipFill>
        <p:spPr>
          <a:xfrm>
            <a:off x="5313004" y="755212"/>
            <a:ext cx="1565991" cy="1565991"/>
          </a:xfrm>
          <a:prstGeom prst="ellipse">
            <a:avLst/>
          </a:prstGeom>
        </p:spPr>
      </p:pic>
    </p:spTree>
    <p:extLst>
      <p:ext uri="{BB962C8B-B14F-4D97-AF65-F5344CB8AC3E}">
        <p14:creationId xmlns:p14="http://schemas.microsoft.com/office/powerpoint/2010/main" val="3398244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3" name="图片 2">
            <a:extLst>
              <a:ext uri="{FF2B5EF4-FFF2-40B4-BE49-F238E27FC236}">
                <a16:creationId xmlns:a16="http://schemas.microsoft.com/office/drawing/2014/main" id="{E0E2AE98-3E5B-438A-BDD5-88D86C2C48AF}"/>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380547518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5" name="文本框 64">
            <a:extLst>
              <a:ext uri="{FF2B5EF4-FFF2-40B4-BE49-F238E27FC236}">
                <a16:creationId xmlns:a16="http://schemas.microsoft.com/office/drawing/2014/main" id="{869BC398-1117-4C60-9F7D-56D1CFDE6B1D}"/>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6" name="图片 65">
            <a:extLst>
              <a:ext uri="{FF2B5EF4-FFF2-40B4-BE49-F238E27FC236}">
                <a16:creationId xmlns:a16="http://schemas.microsoft.com/office/drawing/2014/main" id="{61BAD8B5-733E-4D18-A848-2BEB675FBB40}"/>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76478700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4" name="文本框 63">
            <a:extLst>
              <a:ext uri="{FF2B5EF4-FFF2-40B4-BE49-F238E27FC236}">
                <a16:creationId xmlns:a16="http://schemas.microsoft.com/office/drawing/2014/main" id="{5B39126A-315A-4FE5-8123-CABDC8BD2DD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7" name="图片 66">
            <a:extLst>
              <a:ext uri="{FF2B5EF4-FFF2-40B4-BE49-F238E27FC236}">
                <a16:creationId xmlns:a16="http://schemas.microsoft.com/office/drawing/2014/main" id="{4FD75583-E4E3-4C6A-9A05-804B1DD48CDE}"/>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1250273013"/>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7" name="文本框 66">
            <a:extLst>
              <a:ext uri="{FF2B5EF4-FFF2-40B4-BE49-F238E27FC236}">
                <a16:creationId xmlns:a16="http://schemas.microsoft.com/office/drawing/2014/main" id="{517EAAE1-2E83-43E0-AF30-C1C06D05B9C3}"/>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124" name="图片 123">
            <a:extLst>
              <a:ext uri="{FF2B5EF4-FFF2-40B4-BE49-F238E27FC236}">
                <a16:creationId xmlns:a16="http://schemas.microsoft.com/office/drawing/2014/main" id="{59D7E8A0-D812-4735-BBA6-309A54CEEB81}"/>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3343342305"/>
      </p:ext>
    </p:extLst>
  </p:cSld>
  <p:clrMapOvr>
    <a:masterClrMapping/>
  </p:clrMapOvr>
  <p:extLst>
    <p:ext uri="{DCECCB84-F9BA-43D5-87BE-67443E8EF086}">
      <p15:sldGuideLst xmlns:p15="http://schemas.microsoft.com/office/powerpoint/2012/main">
        <p15:guide id="2" orient="horz" userDrawn="1">
          <p15:clr>
            <a:srgbClr val="FBAE40"/>
          </p15:clr>
        </p15:guide>
        <p15:guide id="4"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pic>
        <p:nvPicPr>
          <p:cNvPr id="58" name="图片 57">
            <a:extLst>
              <a:ext uri="{FF2B5EF4-FFF2-40B4-BE49-F238E27FC236}">
                <a16:creationId xmlns:a16="http://schemas.microsoft.com/office/drawing/2014/main" id="{CFD96C25-C515-421C-86D4-6FBB0F58A442}"/>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65695044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700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pic>
        <p:nvPicPr>
          <p:cNvPr id="65" name="图片 64">
            <a:extLst>
              <a:ext uri="{FF2B5EF4-FFF2-40B4-BE49-F238E27FC236}">
                <a16:creationId xmlns:a16="http://schemas.microsoft.com/office/drawing/2014/main" id="{9D83936D-8233-4288-AD99-E5E8A734F11B}"/>
              </a:ext>
            </a:extLst>
          </p:cNvPr>
          <p:cNvPicPr>
            <a:picLocks noChangeAspect="1"/>
          </p:cNvPicPr>
          <p:nvPr userDrawn="1"/>
        </p:nvPicPr>
        <p:blipFill>
          <a:blip r:embed="rId2"/>
          <a:stretch>
            <a:fillRect/>
          </a:stretch>
        </p:blipFill>
        <p:spPr>
          <a:xfrm>
            <a:off x="9801717" y="370397"/>
            <a:ext cx="2130154" cy="490690"/>
          </a:xfrm>
          <a:prstGeom prst="rect">
            <a:avLst/>
          </a:prstGeom>
        </p:spPr>
      </p:pic>
      <p:sp>
        <p:nvSpPr>
          <p:cNvPr id="66" name="文本框 65">
            <a:extLst>
              <a:ext uri="{FF2B5EF4-FFF2-40B4-BE49-F238E27FC236}">
                <a16:creationId xmlns:a16="http://schemas.microsoft.com/office/drawing/2014/main" id="{085CE9BD-01BB-45C6-BDF6-50D19ABD307E}"/>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spTree>
    <p:extLst>
      <p:ext uri="{BB962C8B-B14F-4D97-AF65-F5344CB8AC3E}">
        <p14:creationId xmlns:p14="http://schemas.microsoft.com/office/powerpoint/2010/main" val="32039128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
        <p:nvSpPr>
          <p:cNvPr id="64" name="文本框 63">
            <a:extLst>
              <a:ext uri="{FF2B5EF4-FFF2-40B4-BE49-F238E27FC236}">
                <a16:creationId xmlns:a16="http://schemas.microsoft.com/office/drawing/2014/main" id="{50D128A1-D788-4B0D-9790-DA3566278D81}"/>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5" name="图片 64">
            <a:extLst>
              <a:ext uri="{FF2B5EF4-FFF2-40B4-BE49-F238E27FC236}">
                <a16:creationId xmlns:a16="http://schemas.microsoft.com/office/drawing/2014/main" id="{E8F68AAD-4B15-4AAB-A3F6-CEA9F0A6EA7D}"/>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229741471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
        <p:nvSpPr>
          <p:cNvPr id="65" name="文本框 64">
            <a:extLst>
              <a:ext uri="{FF2B5EF4-FFF2-40B4-BE49-F238E27FC236}">
                <a16:creationId xmlns:a16="http://schemas.microsoft.com/office/drawing/2014/main" id="{8E2BF4D0-C2AC-4009-8346-FD746C1CB955}"/>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7" name="图片 66">
            <a:extLst>
              <a:ext uri="{FF2B5EF4-FFF2-40B4-BE49-F238E27FC236}">
                <a16:creationId xmlns:a16="http://schemas.microsoft.com/office/drawing/2014/main" id="{B50C48B0-76A2-42D7-AF18-B9747E62D0E9}"/>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407741092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
        <p:nvSpPr>
          <p:cNvPr id="64" name="文本框 63">
            <a:extLst>
              <a:ext uri="{FF2B5EF4-FFF2-40B4-BE49-F238E27FC236}">
                <a16:creationId xmlns:a16="http://schemas.microsoft.com/office/drawing/2014/main" id="{AA01BA07-8DEE-4A3C-9737-A24E540A3C5C}"/>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5" name="图片 64">
            <a:extLst>
              <a:ext uri="{FF2B5EF4-FFF2-40B4-BE49-F238E27FC236}">
                <a16:creationId xmlns:a16="http://schemas.microsoft.com/office/drawing/2014/main" id="{0F1EC540-6FE2-4FC1-9933-B07938D38AE6}"/>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127107317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67" name="文本框 66">
            <a:extLst>
              <a:ext uri="{FF2B5EF4-FFF2-40B4-BE49-F238E27FC236}">
                <a16:creationId xmlns:a16="http://schemas.microsoft.com/office/drawing/2014/main" id="{C9982A70-0445-4546-8899-5773CC00266D}"/>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8" name="图片 67">
            <a:extLst>
              <a:ext uri="{FF2B5EF4-FFF2-40B4-BE49-F238E27FC236}">
                <a16:creationId xmlns:a16="http://schemas.microsoft.com/office/drawing/2014/main" id="{2D7255AF-12EB-4A12-AFA5-81A1AF0D7225}"/>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16837769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
        <p:nvSpPr>
          <p:cNvPr id="65" name="文本框 64">
            <a:extLst>
              <a:ext uri="{FF2B5EF4-FFF2-40B4-BE49-F238E27FC236}">
                <a16:creationId xmlns:a16="http://schemas.microsoft.com/office/drawing/2014/main" id="{BD592277-AC89-4179-8391-F299BF5CEFA5}"/>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6" name="图片 65">
            <a:extLst>
              <a:ext uri="{FF2B5EF4-FFF2-40B4-BE49-F238E27FC236}">
                <a16:creationId xmlns:a16="http://schemas.microsoft.com/office/drawing/2014/main" id="{50352F9D-6BED-46BE-B44C-5915003F5CCD}"/>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217635334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
        <p:nvSpPr>
          <p:cNvPr id="67" name="文本框 66">
            <a:extLst>
              <a:ext uri="{FF2B5EF4-FFF2-40B4-BE49-F238E27FC236}">
                <a16:creationId xmlns:a16="http://schemas.microsoft.com/office/drawing/2014/main" id="{B840FD4D-B26E-4FFF-A736-6D7F6D2B2ABF}"/>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8" name="图片 67">
            <a:extLst>
              <a:ext uri="{FF2B5EF4-FFF2-40B4-BE49-F238E27FC236}">
                <a16:creationId xmlns:a16="http://schemas.microsoft.com/office/drawing/2014/main" id="{35DB933C-4EC0-450F-B672-C283172D3E9C}"/>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105695779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rgbClr val="005BAC"/>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rgbClr val="005BAC"/>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rgbClr val="005BAC"/>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
        <p:nvSpPr>
          <p:cNvPr id="64" name="文本框 63">
            <a:extLst>
              <a:ext uri="{FF2B5EF4-FFF2-40B4-BE49-F238E27FC236}">
                <a16:creationId xmlns:a16="http://schemas.microsoft.com/office/drawing/2014/main" id="{9C44758A-8020-46C5-B8E3-1B8D784E7506}"/>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德才兼备 知行合一</a:t>
            </a:r>
          </a:p>
        </p:txBody>
      </p:sp>
      <p:pic>
        <p:nvPicPr>
          <p:cNvPr id="65" name="图片 64">
            <a:extLst>
              <a:ext uri="{FF2B5EF4-FFF2-40B4-BE49-F238E27FC236}">
                <a16:creationId xmlns:a16="http://schemas.microsoft.com/office/drawing/2014/main" id="{9B101F24-26A7-4562-8546-A73873C13590}"/>
              </a:ext>
            </a:extLst>
          </p:cNvPr>
          <p:cNvPicPr>
            <a:picLocks noChangeAspect="1"/>
          </p:cNvPicPr>
          <p:nvPr userDrawn="1"/>
        </p:nvPicPr>
        <p:blipFill>
          <a:blip r:embed="rId2"/>
          <a:stretch>
            <a:fillRect/>
          </a:stretch>
        </p:blipFill>
        <p:spPr>
          <a:xfrm>
            <a:off x="9955161" y="379902"/>
            <a:ext cx="2118852" cy="488087"/>
          </a:xfrm>
          <a:prstGeom prst="rect">
            <a:avLst/>
          </a:prstGeom>
        </p:spPr>
      </p:pic>
    </p:spTree>
    <p:extLst>
      <p:ext uri="{BB962C8B-B14F-4D97-AF65-F5344CB8AC3E}">
        <p14:creationId xmlns:p14="http://schemas.microsoft.com/office/powerpoint/2010/main" val="289643890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1716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152792"/>
      </p:ext>
    </p:extLst>
  </p:cSld>
  <p:clrMap bg1="lt1" tx1="dk1" bg2="lt2" tx2="dk2" accent1="accent1" accent2="accent2" accent3="accent3" accent4="accent4" accent5="accent5" accent6="accent6" hlink="hlink" folHlink="folHlink"/>
  <p:sldLayoutIdLst>
    <p:sldLayoutId id="2147483681" r:id="rId1"/>
    <p:sldLayoutId id="2147483691" r:id="rId2"/>
    <p:sldLayoutId id="2147483689" r:id="rId3"/>
    <p:sldLayoutId id="2147483688" r:id="rId4"/>
    <p:sldLayoutId id="2147483657" r:id="rId5"/>
    <p:sldLayoutId id="2147483690" r:id="rId6"/>
    <p:sldLayoutId id="2147483692" r:id="rId7"/>
    <p:sldLayoutId id="2147483704" r:id="rId8"/>
    <p:sldLayoutId id="2147483695" r:id="rId9"/>
    <p:sldLayoutId id="2147483700" r:id="rId10"/>
    <p:sldLayoutId id="2147483701" r:id="rId11"/>
    <p:sldLayoutId id="2147483703" r:id="rId12"/>
    <p:sldLayoutId id="2147483702" r:id="rId13"/>
    <p:sldLayoutId id="2147483705" r:id="rId14"/>
    <p:sldLayoutId id="2147483706"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56088"/>
      </p:ext>
    </p:extLst>
  </p:cSld>
  <p:clrMap bg1="lt1" tx1="dk1" bg2="lt2" tx2="dk2" accent1="accent1" accent2="accent2" accent3="accent3" accent4="accent4" accent5="accent5" accent6="accent6" hlink="hlink" folHlink="folHlink"/>
  <p:sldLayoutIdLst>
    <p:sldLayoutId id="214748373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5.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oleObject" Target="../embeddings/oleObject1.bin"/><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5.wmf"/><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oleObject" Target="../embeddings/oleObject1.bin"/><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2EF90027-5852-4AF0-9862-0A6C7A5043CF}"/>
              </a:ext>
            </a:extLst>
          </p:cNvPr>
          <p:cNvSpPr/>
          <p:nvPr/>
        </p:nvSpPr>
        <p:spPr>
          <a:xfrm>
            <a:off x="0" y="1515573"/>
            <a:ext cx="12192000" cy="3372353"/>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5" name="椭圆 34">
            <a:extLst>
              <a:ext uri="{FF2B5EF4-FFF2-40B4-BE49-F238E27FC236}">
                <a16:creationId xmlns:a16="http://schemas.microsoft.com/office/drawing/2014/main" id="{32BFC903-AF8A-4038-B575-96C594429705}"/>
              </a:ext>
            </a:extLst>
          </p:cNvPr>
          <p:cNvSpPr/>
          <p:nvPr/>
        </p:nvSpPr>
        <p:spPr>
          <a:xfrm>
            <a:off x="5197121" y="602182"/>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34" name="直接连接符 33">
            <a:extLst>
              <a:ext uri="{FF2B5EF4-FFF2-40B4-BE49-F238E27FC236}">
                <a16:creationId xmlns:a16="http://schemas.microsoft.com/office/drawing/2014/main" id="{4B655FA9-2E1A-4D3C-9383-AA415758F001}"/>
              </a:ext>
            </a:extLst>
          </p:cNvPr>
          <p:cNvCxnSpPr>
            <a:cxnSpLocks/>
          </p:cNvCxnSpPr>
          <p:nvPr/>
        </p:nvCxnSpPr>
        <p:spPr>
          <a:xfrm>
            <a:off x="4808369" y="4571994"/>
            <a:ext cx="257526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TextBox 26">
            <a:extLst>
              <a:ext uri="{FF2B5EF4-FFF2-40B4-BE49-F238E27FC236}">
                <a16:creationId xmlns:a16="http://schemas.microsoft.com/office/drawing/2014/main" id="{D3C7D486-AB09-4175-903D-1BD874F9893B}"/>
              </a:ext>
            </a:extLst>
          </p:cNvPr>
          <p:cNvSpPr txBox="1"/>
          <p:nvPr/>
        </p:nvSpPr>
        <p:spPr>
          <a:xfrm>
            <a:off x="3500461" y="5166324"/>
            <a:ext cx="519107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王梓源</a:t>
            </a:r>
            <a:r>
              <a:rPr kumimoji="0" lang="en-US" altLang="zh-CN" sz="20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	    2025</a:t>
            </a:r>
            <a:r>
              <a:rPr kumimoji="0" lang="zh-CN" altLang="en-US" sz="20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年</a:t>
            </a:r>
            <a:r>
              <a:rPr lang="en-US" altLang="zh-CN" sz="2000" dirty="0">
                <a:solidFill>
                  <a:prstClr val="black">
                    <a:lumMod val="95000"/>
                    <a:lumOff val="5000"/>
                  </a:prstClr>
                </a:solidFill>
                <a:latin typeface="Arial" panose="020B0604020202020204" pitchFamily="34" charset="0"/>
                <a:ea typeface="Microsoft YaHei" panose="020B0503020204020204" pitchFamily="34" charset="-122"/>
                <a:cs typeface="+mn-ea"/>
                <a:sym typeface="Arial" panose="020B0604020202020204" pitchFamily="34" charset="0"/>
              </a:rPr>
              <a:t>12</a:t>
            </a:r>
            <a:r>
              <a:rPr kumimoji="0" lang="zh-CN" altLang="en-US" sz="20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月</a:t>
            </a:r>
            <a:r>
              <a:rPr lang="en-US" altLang="zh-CN" sz="2000" dirty="0">
                <a:solidFill>
                  <a:prstClr val="black">
                    <a:lumMod val="95000"/>
                    <a:lumOff val="5000"/>
                  </a:prstClr>
                </a:solidFill>
                <a:latin typeface="Arial" panose="020B0604020202020204" pitchFamily="34" charset="0"/>
                <a:ea typeface="Microsoft YaHei" panose="020B0503020204020204" pitchFamily="34" charset="-122"/>
                <a:cs typeface="+mn-ea"/>
                <a:sym typeface="Arial" panose="020B0604020202020204" pitchFamily="34" charset="0"/>
              </a:rPr>
              <a:t>10</a:t>
            </a:r>
            <a:r>
              <a:rPr kumimoji="0" lang="zh-CN" altLang="en-US" sz="20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日</a:t>
            </a:r>
          </a:p>
        </p:txBody>
      </p:sp>
      <p:sp>
        <p:nvSpPr>
          <p:cNvPr id="123" name="矩形 122">
            <a:extLst>
              <a:ext uri="{FF2B5EF4-FFF2-40B4-BE49-F238E27FC236}">
                <a16:creationId xmlns:a16="http://schemas.microsoft.com/office/drawing/2014/main" id="{A83A5D28-9D83-48F5-9E5A-9FE4B0EEFCD2}"/>
              </a:ext>
            </a:extLst>
          </p:cNvPr>
          <p:cNvSpPr/>
          <p:nvPr/>
        </p:nvSpPr>
        <p:spPr>
          <a:xfrm>
            <a:off x="1638446" y="2707362"/>
            <a:ext cx="8944132" cy="1651671"/>
          </a:xfrm>
          <a:prstGeom prst="rect">
            <a:avLst/>
          </a:prstGeom>
        </p:spPr>
        <p:txBody>
          <a:bodyPr wrap="square">
            <a:spAutoFit/>
          </a:bodyPr>
          <a:lstStyle/>
          <a:p>
            <a:pPr lvl="0" algn="ctr">
              <a:lnSpc>
                <a:spcPct val="150000"/>
              </a:lnSpc>
              <a:defRPr/>
            </a:pPr>
            <a:r>
              <a:rPr lang="en-US" altLang="zh-CN" sz="3600" dirty="0">
                <a:solidFill>
                  <a:schemeClr val="bg1"/>
                </a:solidFill>
              </a:rPr>
              <a:t>The Surprising Effectiveness of Negative Reinforcement in LLM Reasoning</a:t>
            </a:r>
            <a:endParaRPr lang="en-US" altLang="zh-CN" sz="3600" dirty="0">
              <a:solidFill>
                <a:schemeClr val="bg1"/>
              </a:solidFill>
              <a:sym typeface="Arial" panose="020B0604020202020204" pitchFamily="34" charset="0"/>
            </a:endParaRPr>
          </a:p>
        </p:txBody>
      </p:sp>
      <p:pic>
        <p:nvPicPr>
          <p:cNvPr id="30" name="图片 29">
            <a:extLst>
              <a:ext uri="{FF2B5EF4-FFF2-40B4-BE49-F238E27FC236}">
                <a16:creationId xmlns:a16="http://schemas.microsoft.com/office/drawing/2014/main" id="{092F91FA-5132-4072-B418-CB431CDC4A35}"/>
              </a:ext>
            </a:extLst>
          </p:cNvPr>
          <p:cNvPicPr>
            <a:picLocks noChangeAspect="1"/>
          </p:cNvPicPr>
          <p:nvPr/>
        </p:nvPicPr>
        <p:blipFill rotWithShape="1">
          <a:blip r:embed="rId4"/>
          <a:srcRect l="23738" t="3312" r="23201" b="2357"/>
          <a:stretch/>
        </p:blipFill>
        <p:spPr>
          <a:xfrm>
            <a:off x="5310637" y="715698"/>
            <a:ext cx="1599750" cy="1599750"/>
          </a:xfrm>
          <a:prstGeom prst="ellipse">
            <a:avLst/>
          </a:prstGeom>
        </p:spPr>
      </p:pic>
    </p:spTree>
    <p:extLst>
      <p:ext uri="{BB962C8B-B14F-4D97-AF65-F5344CB8AC3E}">
        <p14:creationId xmlns:p14="http://schemas.microsoft.com/office/powerpoint/2010/main" val="10185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0157E34-A62B-85DB-2586-8CCE3790A7F7}"/>
              </a:ext>
            </a:extLst>
          </p:cNvPr>
          <p:cNvSpPr>
            <a:spLocks noGrp="1"/>
          </p:cNvSpPr>
          <p:nvPr>
            <p:ph type="sldNum" sz="quarter" idx="4"/>
          </p:nvPr>
        </p:nvSpPr>
        <p:spPr/>
        <p:txBody>
          <a:bodyPr/>
          <a:lstStyle/>
          <a:p>
            <a:r>
              <a:rPr lang="en-US" altLang="zh-CN"/>
              <a:t>&lt; </a:t>
            </a:r>
            <a:fld id="{A548B57D-AE10-4CF7-A9DF-59FEFA91B28E}" type="slidenum">
              <a:rPr lang="zh-CN" altLang="en-US" smtClean="0"/>
              <a:pPr/>
              <a:t>2</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D9C95BEC-4B44-57BA-EF08-DCCD1D19DBCD}"/>
              </a:ext>
            </a:extLst>
          </p:cNvPr>
          <p:cNvSpPr>
            <a:spLocks noGrp="1"/>
          </p:cNvSpPr>
          <p:nvPr>
            <p:ph type="title"/>
          </p:nvPr>
        </p:nvSpPr>
        <p:spPr/>
        <p:txBody>
          <a:bodyPr/>
          <a:lstStyle/>
          <a:p>
            <a:r>
              <a:rPr lang="en-US" altLang="zh-CN" dirty="0"/>
              <a:t>RLVR-Decomposed</a:t>
            </a:r>
            <a:endParaRPr lang="zh-CN" altLang="en-US" dirty="0"/>
          </a:p>
        </p:txBody>
      </p:sp>
      <p:sp>
        <p:nvSpPr>
          <p:cNvPr id="6" name="文本占位符 2">
            <a:extLst>
              <a:ext uri="{FF2B5EF4-FFF2-40B4-BE49-F238E27FC236}">
                <a16:creationId xmlns:a16="http://schemas.microsoft.com/office/drawing/2014/main" id="{CD0DE75C-BA84-F5B2-24A2-9BD44F86F4CA}"/>
              </a:ext>
            </a:extLst>
          </p:cNvPr>
          <p:cNvSpPr txBox="1">
            <a:spLocks/>
          </p:cNvSpPr>
          <p:nvPr/>
        </p:nvSpPr>
        <p:spPr>
          <a:xfrm>
            <a:off x="5180136" y="5464536"/>
            <a:ext cx="2184940" cy="5521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2400" dirty="0" err="1">
                <a:latin typeface="+mn-lt"/>
                <a:cs typeface="Times New Roman" panose="02020603050405020304" pitchFamily="18" charset="0"/>
                <a:sym typeface="Arial" panose="020B0604020202020204" pitchFamily="34" charset="0"/>
              </a:rPr>
              <a:t>NeurIPS</a:t>
            </a:r>
            <a:r>
              <a:rPr lang="en-US" altLang="zh-CN" sz="2400" dirty="0">
                <a:latin typeface="+mn-lt"/>
                <a:cs typeface="Times New Roman" panose="02020603050405020304" pitchFamily="18" charset="0"/>
                <a:sym typeface="Arial" panose="020B0604020202020204" pitchFamily="34" charset="0"/>
              </a:rPr>
              <a:t> 2025</a:t>
            </a:r>
          </a:p>
        </p:txBody>
      </p:sp>
      <p:pic>
        <p:nvPicPr>
          <p:cNvPr id="4" name="图片 3">
            <a:extLst>
              <a:ext uri="{FF2B5EF4-FFF2-40B4-BE49-F238E27FC236}">
                <a16:creationId xmlns:a16="http://schemas.microsoft.com/office/drawing/2014/main" id="{026D048A-933C-B72D-F2A1-005276C3A352}"/>
              </a:ext>
            </a:extLst>
          </p:cNvPr>
          <p:cNvPicPr>
            <a:picLocks noChangeAspect="1"/>
          </p:cNvPicPr>
          <p:nvPr/>
        </p:nvPicPr>
        <p:blipFill>
          <a:blip r:embed="rId2"/>
          <a:stretch>
            <a:fillRect/>
          </a:stretch>
        </p:blipFill>
        <p:spPr>
          <a:xfrm>
            <a:off x="1179969" y="1034094"/>
            <a:ext cx="9665369" cy="4257435"/>
          </a:xfrm>
          <a:prstGeom prst="rect">
            <a:avLst/>
          </a:prstGeom>
        </p:spPr>
      </p:pic>
    </p:spTree>
    <p:extLst>
      <p:ext uri="{BB962C8B-B14F-4D97-AF65-F5344CB8AC3E}">
        <p14:creationId xmlns:p14="http://schemas.microsoft.com/office/powerpoint/2010/main" val="4110973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28C38-8835-5612-DB28-31B44138C21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91AAF62-751F-8AEA-F6C2-942EA71856AA}"/>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629C387E-62A1-4EFF-B7F7-EFBDCF7011F6}"/>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8568BA4C-7708-DCF4-21BD-DBA32CEF0712}"/>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3EFC2D33-ED22-82E6-2365-222A31D106B9}"/>
              </a:ext>
            </a:extLst>
          </p:cNvPr>
          <p:cNvSpPr txBox="1">
            <a:spLocks/>
          </p:cNvSpPr>
          <p:nvPr/>
        </p:nvSpPr>
        <p:spPr>
          <a:xfrm>
            <a:off x="442913" y="1285209"/>
            <a:ext cx="3785493" cy="14244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分解 </a:t>
            </a:r>
            <a:r>
              <a:rPr lang="en-US" altLang="zh-CN" sz="2000" b="1" dirty="0">
                <a:latin typeface="+mj-lt"/>
                <a:cs typeface="Times New Roman" panose="02020603050405020304" pitchFamily="18" charset="0"/>
              </a:rPr>
              <a:t>RL </a:t>
            </a:r>
            <a:r>
              <a:rPr lang="zh-CN" altLang="en-US" sz="2000" b="1" dirty="0">
                <a:latin typeface="+mj-lt"/>
                <a:cs typeface="Times New Roman" panose="02020603050405020304" pitchFamily="18" charset="0"/>
              </a:rPr>
              <a:t>损失函数：</a:t>
            </a:r>
            <a:endParaRPr lang="en-US" altLang="zh-CN" sz="2000" b="1" dirty="0">
              <a:latin typeface="+mj-lt"/>
              <a:cs typeface="Times New Roman" panose="02020603050405020304" pitchFamily="18" charset="0"/>
            </a:endParaRPr>
          </a:p>
          <a:p>
            <a:pPr>
              <a:lnSpc>
                <a:spcPct val="100000"/>
              </a:lnSpc>
            </a:pPr>
            <a:r>
              <a:rPr lang="zh-CN" altLang="en-US" sz="2000" dirty="0">
                <a:cs typeface="Times New Roman" panose="02020603050405020304" pitchFamily="18" charset="0"/>
              </a:rPr>
              <a:t>正样本强化（</a:t>
            </a:r>
            <a:r>
              <a:rPr lang="en-US" altLang="zh-CN" sz="2000" dirty="0">
                <a:cs typeface="Times New Roman" panose="02020603050405020304" pitchFamily="18" charset="0"/>
              </a:rPr>
              <a:t>PSR</a:t>
            </a:r>
            <a:r>
              <a:rPr lang="zh-CN" altLang="en-US" sz="2000" dirty="0">
                <a:cs typeface="Times New Roman" panose="02020603050405020304" pitchFamily="18" charset="0"/>
              </a:rPr>
              <a:t>）</a:t>
            </a:r>
            <a:endParaRPr lang="en-US" altLang="zh-CN" sz="2000" b="1" dirty="0">
              <a:latin typeface="+mj-lt"/>
              <a:cs typeface="Times New Roman" panose="02020603050405020304" pitchFamily="18" charset="0"/>
            </a:endParaRPr>
          </a:p>
          <a:p>
            <a:pPr>
              <a:lnSpc>
                <a:spcPct val="100000"/>
              </a:lnSpc>
            </a:pPr>
            <a:r>
              <a:rPr lang="zh-CN" altLang="en-US" sz="2000" dirty="0">
                <a:latin typeface="+mj-lt"/>
                <a:cs typeface="Times New Roman" panose="02020603050405020304" pitchFamily="18" charset="0"/>
              </a:rPr>
              <a:t>负样本强化（</a:t>
            </a:r>
            <a:r>
              <a:rPr lang="en-US" altLang="zh-CN" sz="2000" dirty="0">
                <a:latin typeface="+mj-lt"/>
                <a:cs typeface="Times New Roman" panose="02020603050405020304" pitchFamily="18" charset="0"/>
              </a:rPr>
              <a:t>NSR</a:t>
            </a:r>
            <a:r>
              <a:rPr lang="zh-CN" altLang="en-US" sz="2000" dirty="0">
                <a:latin typeface="+mj-lt"/>
                <a:cs typeface="Times New Roman" panose="02020603050405020304" pitchFamily="18" charset="0"/>
              </a:rPr>
              <a:t>）</a:t>
            </a:r>
            <a:endParaRPr lang="en-US" altLang="zh-CN" sz="2000" dirty="0">
              <a:cs typeface="Times New Roman" panose="02020603050405020304" pitchFamily="18" charset="0"/>
            </a:endParaRPr>
          </a:p>
        </p:txBody>
      </p:sp>
      <p:sp>
        <p:nvSpPr>
          <p:cNvPr id="8" name="标题 2">
            <a:extLst>
              <a:ext uri="{FF2B5EF4-FFF2-40B4-BE49-F238E27FC236}">
                <a16:creationId xmlns:a16="http://schemas.microsoft.com/office/drawing/2014/main" id="{E475FF6E-8880-8A4F-D350-F28227EA86C8}"/>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9" name="图片 8">
            <a:extLst>
              <a:ext uri="{FF2B5EF4-FFF2-40B4-BE49-F238E27FC236}">
                <a16:creationId xmlns:a16="http://schemas.microsoft.com/office/drawing/2014/main" id="{8B5D8166-E940-A4CB-13DA-B384D7482A96}"/>
              </a:ext>
            </a:extLst>
          </p:cNvPr>
          <p:cNvPicPr>
            <a:picLocks noChangeAspect="1"/>
          </p:cNvPicPr>
          <p:nvPr/>
        </p:nvPicPr>
        <p:blipFill>
          <a:blip r:embed="rId5"/>
          <a:stretch>
            <a:fillRect/>
          </a:stretch>
        </p:blipFill>
        <p:spPr>
          <a:xfrm>
            <a:off x="1188772" y="2921773"/>
            <a:ext cx="9242080" cy="2545723"/>
          </a:xfrm>
          <a:prstGeom prst="rect">
            <a:avLst/>
          </a:prstGeom>
        </p:spPr>
      </p:pic>
    </p:spTree>
    <p:extLst>
      <p:ext uri="{BB962C8B-B14F-4D97-AF65-F5344CB8AC3E}">
        <p14:creationId xmlns:p14="http://schemas.microsoft.com/office/powerpoint/2010/main" val="1913409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F9374-E7E2-41E1-8880-9C4CBA400639}"/>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E2D3572-C05E-F894-FDC3-5D39BF87C8C6}"/>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55DB5256-6612-69ED-5420-0D64E54E84DA}"/>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629C387E-62A1-4EFF-B7F7-EFBDCF7011F6}"/>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FFEEFD08-2A3A-CE2F-BC00-BE44B06392C2}"/>
              </a:ext>
            </a:extLst>
          </p:cNvPr>
          <p:cNvSpPr txBox="1">
            <a:spLocks/>
          </p:cNvSpPr>
          <p:nvPr/>
        </p:nvSpPr>
        <p:spPr>
          <a:xfrm>
            <a:off x="442913" y="1260682"/>
            <a:ext cx="10762643" cy="20395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实验设置：</a:t>
            </a:r>
            <a:endParaRPr lang="en-US" altLang="zh-CN" sz="2000" b="1" dirty="0">
              <a:latin typeface="+mj-lt"/>
              <a:cs typeface="Times New Roman" panose="02020603050405020304" pitchFamily="18" charset="0"/>
            </a:endParaRPr>
          </a:p>
          <a:p>
            <a:pPr>
              <a:lnSpc>
                <a:spcPct val="100000"/>
              </a:lnSpc>
            </a:pPr>
            <a:r>
              <a:rPr lang="zh-CN" altLang="en-US" sz="2000" dirty="0"/>
              <a:t>模型：</a:t>
            </a:r>
            <a:r>
              <a:rPr lang="en-US" altLang="zh-CN" sz="2000" dirty="0"/>
              <a:t>Qwen2.5-Math-7B, Qwen3-4B (non-thinking), Llama-3.1-8B-Instruct</a:t>
            </a:r>
          </a:p>
          <a:p>
            <a:pPr>
              <a:lnSpc>
                <a:spcPct val="100000"/>
              </a:lnSpc>
            </a:pPr>
            <a:r>
              <a:rPr lang="zh-CN" altLang="en-US" sz="2000" dirty="0"/>
              <a:t>数据集：</a:t>
            </a:r>
            <a:r>
              <a:rPr lang="en-US" altLang="zh-CN" sz="2000" dirty="0"/>
              <a:t>MATH, AIME 2025, AMC23</a:t>
            </a:r>
          </a:p>
          <a:p>
            <a:pPr>
              <a:lnSpc>
                <a:spcPct val="100000"/>
              </a:lnSpc>
            </a:pPr>
            <a:r>
              <a:rPr lang="zh-CN" altLang="en-US" sz="2000" dirty="0"/>
              <a:t>指标：一系列 </a:t>
            </a:r>
            <a:r>
              <a:rPr lang="en-US" altLang="zh-CN" sz="2000" dirty="0" err="1"/>
              <a:t>Pass@k</a:t>
            </a:r>
            <a:endParaRPr lang="en-US" altLang="zh-CN" sz="2000" dirty="0"/>
          </a:p>
          <a:p>
            <a:pPr>
              <a:lnSpc>
                <a:spcPct val="100000"/>
              </a:lnSpc>
            </a:pPr>
            <a:r>
              <a:rPr lang="en-US" altLang="zh-CN" sz="2000" dirty="0"/>
              <a:t>Baselines</a:t>
            </a:r>
            <a:r>
              <a:rPr lang="zh-CN" altLang="en-US" sz="2000" dirty="0"/>
              <a:t>：</a:t>
            </a:r>
            <a:r>
              <a:rPr lang="en-US" altLang="zh-CN" sz="2000" dirty="0"/>
              <a:t>PPO, GRPO</a:t>
            </a:r>
          </a:p>
          <a:p>
            <a:pPr>
              <a:lnSpc>
                <a:spcPct val="100000"/>
              </a:lnSpc>
            </a:pPr>
            <a:endParaRPr lang="en-US" altLang="zh-CN" sz="2000" dirty="0">
              <a:cs typeface="Times New Roman" panose="02020603050405020304" pitchFamily="18" charset="0"/>
            </a:endParaRPr>
          </a:p>
        </p:txBody>
      </p:sp>
      <p:sp>
        <p:nvSpPr>
          <p:cNvPr id="8" name="标题 2">
            <a:extLst>
              <a:ext uri="{FF2B5EF4-FFF2-40B4-BE49-F238E27FC236}">
                <a16:creationId xmlns:a16="http://schemas.microsoft.com/office/drawing/2014/main" id="{0E47C548-1074-D7D8-F729-CDBF9BCC350B}"/>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5" name="图片 4">
            <a:extLst>
              <a:ext uri="{FF2B5EF4-FFF2-40B4-BE49-F238E27FC236}">
                <a16:creationId xmlns:a16="http://schemas.microsoft.com/office/drawing/2014/main" id="{28C8429F-4CF3-8406-D69F-4949B8F1221B}"/>
              </a:ext>
            </a:extLst>
          </p:cNvPr>
          <p:cNvPicPr>
            <a:picLocks noChangeAspect="1"/>
          </p:cNvPicPr>
          <p:nvPr/>
        </p:nvPicPr>
        <p:blipFill>
          <a:blip r:embed="rId5"/>
          <a:stretch>
            <a:fillRect/>
          </a:stretch>
        </p:blipFill>
        <p:spPr>
          <a:xfrm>
            <a:off x="513176" y="3775998"/>
            <a:ext cx="11013806" cy="1666068"/>
          </a:xfrm>
          <a:prstGeom prst="rect">
            <a:avLst/>
          </a:prstGeom>
        </p:spPr>
      </p:pic>
      <p:pic>
        <p:nvPicPr>
          <p:cNvPr id="6" name="图片 5">
            <a:extLst>
              <a:ext uri="{FF2B5EF4-FFF2-40B4-BE49-F238E27FC236}">
                <a16:creationId xmlns:a16="http://schemas.microsoft.com/office/drawing/2014/main" id="{D6AA4B0F-2943-3121-5D5A-5C45160BA908}"/>
              </a:ext>
            </a:extLst>
          </p:cNvPr>
          <p:cNvPicPr>
            <a:picLocks noChangeAspect="1"/>
          </p:cNvPicPr>
          <p:nvPr/>
        </p:nvPicPr>
        <p:blipFill>
          <a:blip r:embed="rId6"/>
          <a:stretch>
            <a:fillRect/>
          </a:stretch>
        </p:blipFill>
        <p:spPr>
          <a:xfrm>
            <a:off x="7513886" y="2422854"/>
            <a:ext cx="2921357" cy="853430"/>
          </a:xfrm>
          <a:prstGeom prst="rect">
            <a:avLst/>
          </a:prstGeom>
        </p:spPr>
      </p:pic>
    </p:spTree>
    <p:extLst>
      <p:ext uri="{BB962C8B-B14F-4D97-AF65-F5344CB8AC3E}">
        <p14:creationId xmlns:p14="http://schemas.microsoft.com/office/powerpoint/2010/main" val="4154362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12B68-5C68-FB95-85FE-7F63A4EC7CB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5A94D15-238E-D847-6FA1-DDCAD947459F}"/>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A19929CC-C583-EB9A-2061-C92521C8B440}"/>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55DB5256-6612-69ED-5420-0D64E54E84DA}"/>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5AD1C5EA-8D73-EB47-D66E-F54DA8DE865C}"/>
              </a:ext>
            </a:extLst>
          </p:cNvPr>
          <p:cNvSpPr txBox="1">
            <a:spLocks/>
          </p:cNvSpPr>
          <p:nvPr/>
        </p:nvSpPr>
        <p:spPr>
          <a:xfrm>
            <a:off x="442913" y="1233305"/>
            <a:ext cx="7315632" cy="20395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实验分析：</a:t>
            </a:r>
            <a:endParaRPr lang="en-US" altLang="zh-CN" sz="2000" b="1" dirty="0">
              <a:latin typeface="+mj-lt"/>
              <a:cs typeface="Times New Roman" panose="02020603050405020304" pitchFamily="18" charset="0"/>
            </a:endParaRPr>
          </a:p>
          <a:p>
            <a:pPr>
              <a:lnSpc>
                <a:spcPct val="100000"/>
              </a:lnSpc>
            </a:pPr>
            <a:r>
              <a:rPr lang="zh-CN" altLang="en-US" sz="2000" dirty="0"/>
              <a:t>单独使用 </a:t>
            </a:r>
            <a:r>
              <a:rPr lang="en-US" altLang="zh-CN" sz="2000" dirty="0"/>
              <a:t>NSR </a:t>
            </a:r>
            <a:r>
              <a:rPr lang="zh-CN" altLang="en-US" sz="2000" dirty="0"/>
              <a:t>也有效</a:t>
            </a:r>
          </a:p>
          <a:p>
            <a:pPr>
              <a:lnSpc>
                <a:spcPct val="100000"/>
              </a:lnSpc>
            </a:pPr>
            <a:r>
              <a:rPr lang="en-US" altLang="zh-CN" sz="2000" dirty="0"/>
              <a:t>NSR </a:t>
            </a:r>
            <a:r>
              <a:rPr lang="zh-CN" altLang="en-US" sz="2000" dirty="0"/>
              <a:t>在 </a:t>
            </a:r>
            <a:r>
              <a:rPr lang="en-US" altLang="zh-CN" sz="2000" dirty="0"/>
              <a:t>k </a:t>
            </a:r>
            <a:r>
              <a:rPr lang="zh-CN" altLang="en-US" sz="2000" dirty="0"/>
              <a:t>较大的时候效果也很好</a:t>
            </a:r>
          </a:p>
          <a:p>
            <a:pPr>
              <a:lnSpc>
                <a:spcPct val="100000"/>
              </a:lnSpc>
            </a:pPr>
            <a:r>
              <a:rPr lang="en-US" altLang="zh-CN" sz="2000" dirty="0"/>
              <a:t>PSR </a:t>
            </a:r>
            <a:r>
              <a:rPr lang="zh-CN" altLang="en-US" sz="2000" dirty="0"/>
              <a:t>提升 </a:t>
            </a:r>
            <a:r>
              <a:rPr lang="en-US" altLang="zh-CN" sz="2000" dirty="0"/>
              <a:t>accuracy</a:t>
            </a:r>
            <a:r>
              <a:rPr lang="zh-CN" altLang="en-US" sz="2000" dirty="0"/>
              <a:t>，但代价是降低多样性</a:t>
            </a:r>
            <a:endParaRPr lang="en-US" altLang="zh-CN" sz="2000" b="1" dirty="0">
              <a:latin typeface="+mj-lt"/>
              <a:cs typeface="Times New Roman" panose="02020603050405020304" pitchFamily="18" charset="0"/>
            </a:endParaRPr>
          </a:p>
          <a:p>
            <a:pPr>
              <a:lnSpc>
                <a:spcPct val="100000"/>
              </a:lnSpc>
            </a:pPr>
            <a:endParaRPr lang="en-US" altLang="zh-CN" sz="2000" dirty="0">
              <a:cs typeface="Times New Roman" panose="02020603050405020304" pitchFamily="18" charset="0"/>
            </a:endParaRPr>
          </a:p>
        </p:txBody>
      </p:sp>
      <p:sp>
        <p:nvSpPr>
          <p:cNvPr id="8" name="标题 2">
            <a:extLst>
              <a:ext uri="{FF2B5EF4-FFF2-40B4-BE49-F238E27FC236}">
                <a16:creationId xmlns:a16="http://schemas.microsoft.com/office/drawing/2014/main" id="{89E50CCA-B33E-8339-6A7F-9DED260776F9}"/>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2" name="图片 1">
            <a:extLst>
              <a:ext uri="{FF2B5EF4-FFF2-40B4-BE49-F238E27FC236}">
                <a16:creationId xmlns:a16="http://schemas.microsoft.com/office/drawing/2014/main" id="{4389C8A0-757E-424B-686A-C993E47A9B26}"/>
              </a:ext>
            </a:extLst>
          </p:cNvPr>
          <p:cNvPicPr>
            <a:picLocks noChangeAspect="1"/>
          </p:cNvPicPr>
          <p:nvPr/>
        </p:nvPicPr>
        <p:blipFill>
          <a:blip r:embed="rId5"/>
          <a:stretch>
            <a:fillRect/>
          </a:stretch>
        </p:blipFill>
        <p:spPr>
          <a:xfrm>
            <a:off x="1699101" y="3272902"/>
            <a:ext cx="8990227" cy="3048000"/>
          </a:xfrm>
          <a:prstGeom prst="rect">
            <a:avLst/>
          </a:prstGeom>
        </p:spPr>
      </p:pic>
      <p:pic>
        <p:nvPicPr>
          <p:cNvPr id="4" name="图片 3">
            <a:extLst>
              <a:ext uri="{FF2B5EF4-FFF2-40B4-BE49-F238E27FC236}">
                <a16:creationId xmlns:a16="http://schemas.microsoft.com/office/drawing/2014/main" id="{9ABCB94E-6E9A-B490-9E75-B7C257342A73}"/>
              </a:ext>
            </a:extLst>
          </p:cNvPr>
          <p:cNvPicPr>
            <a:picLocks noChangeAspect="1"/>
          </p:cNvPicPr>
          <p:nvPr/>
        </p:nvPicPr>
        <p:blipFill>
          <a:blip r:embed="rId6"/>
          <a:stretch>
            <a:fillRect/>
          </a:stretch>
        </p:blipFill>
        <p:spPr>
          <a:xfrm>
            <a:off x="8045854" y="934538"/>
            <a:ext cx="3657627" cy="2395555"/>
          </a:xfrm>
          <a:prstGeom prst="rect">
            <a:avLst/>
          </a:prstGeom>
        </p:spPr>
      </p:pic>
    </p:spTree>
    <p:extLst>
      <p:ext uri="{BB962C8B-B14F-4D97-AF65-F5344CB8AC3E}">
        <p14:creationId xmlns:p14="http://schemas.microsoft.com/office/powerpoint/2010/main" val="2884655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AED24-077E-37B4-51BB-E76E49B6AF88}"/>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DC4ECF9-6ECC-AF42-DA0C-45597A91850B}"/>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DAF88E0C-2C16-E75B-FAF7-E3B36F2F29B6}"/>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A19929CC-C583-EB9A-2061-C92521C8B440}"/>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5569A324-E4AE-03EC-EFD8-04DCBF88E327}"/>
              </a:ext>
            </a:extLst>
          </p:cNvPr>
          <p:cNvSpPr txBox="1">
            <a:spLocks/>
          </p:cNvSpPr>
          <p:nvPr/>
        </p:nvSpPr>
        <p:spPr>
          <a:xfrm>
            <a:off x="442913" y="1233306"/>
            <a:ext cx="6367982" cy="10388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实验分析：</a:t>
            </a:r>
            <a:endParaRPr lang="en-US" altLang="zh-CN" sz="2000" b="1" dirty="0">
              <a:latin typeface="+mj-lt"/>
              <a:cs typeface="Times New Roman" panose="02020603050405020304" pitchFamily="18" charset="0"/>
            </a:endParaRPr>
          </a:p>
          <a:p>
            <a:pPr>
              <a:lnSpc>
                <a:spcPct val="100000"/>
              </a:lnSpc>
            </a:pPr>
            <a:r>
              <a:rPr lang="zh-CN" altLang="en-US" sz="2000" dirty="0"/>
              <a:t>单独使用 </a:t>
            </a:r>
            <a:r>
              <a:rPr lang="en-US" altLang="zh-CN" sz="2000" dirty="0"/>
              <a:t>PSR </a:t>
            </a:r>
            <a:r>
              <a:rPr lang="zh-CN" altLang="en-US" sz="2000" dirty="0"/>
              <a:t>不能提升模型隐藏的推理能力</a:t>
            </a:r>
            <a:endParaRPr lang="en-US" altLang="zh-CN" sz="2000" dirty="0">
              <a:cs typeface="Times New Roman" panose="02020603050405020304" pitchFamily="18" charset="0"/>
            </a:endParaRPr>
          </a:p>
        </p:txBody>
      </p:sp>
      <p:sp>
        <p:nvSpPr>
          <p:cNvPr id="8" name="标题 2">
            <a:extLst>
              <a:ext uri="{FF2B5EF4-FFF2-40B4-BE49-F238E27FC236}">
                <a16:creationId xmlns:a16="http://schemas.microsoft.com/office/drawing/2014/main" id="{7AAAA9C5-97EF-8C32-70E7-10CB3A54297F}"/>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5" name="图片 4">
            <a:extLst>
              <a:ext uri="{FF2B5EF4-FFF2-40B4-BE49-F238E27FC236}">
                <a16:creationId xmlns:a16="http://schemas.microsoft.com/office/drawing/2014/main" id="{A64629EB-4397-8EB5-FE42-685E31710E6B}"/>
              </a:ext>
            </a:extLst>
          </p:cNvPr>
          <p:cNvPicPr>
            <a:picLocks noChangeAspect="1"/>
          </p:cNvPicPr>
          <p:nvPr/>
        </p:nvPicPr>
        <p:blipFill>
          <a:blip r:embed="rId5"/>
          <a:stretch>
            <a:fillRect/>
          </a:stretch>
        </p:blipFill>
        <p:spPr>
          <a:xfrm>
            <a:off x="1044068" y="2316481"/>
            <a:ext cx="10231742" cy="3683674"/>
          </a:xfrm>
          <a:prstGeom prst="rect">
            <a:avLst/>
          </a:prstGeom>
        </p:spPr>
      </p:pic>
    </p:spTree>
    <p:extLst>
      <p:ext uri="{BB962C8B-B14F-4D97-AF65-F5344CB8AC3E}">
        <p14:creationId xmlns:p14="http://schemas.microsoft.com/office/powerpoint/2010/main" val="321368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177ED-5430-2DE5-5597-C993729A831D}"/>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F5C5D2F-F902-195B-F5B9-A6937CC6E64A}"/>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DD5F871D-E9E4-C2E0-83DC-ED631E674F3C}"/>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DAF88E0C-2C16-E75B-FAF7-E3B36F2F29B6}"/>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4851CDBC-01C1-0D07-D522-726DAC0F43A2}"/>
              </a:ext>
            </a:extLst>
          </p:cNvPr>
          <p:cNvSpPr txBox="1">
            <a:spLocks/>
          </p:cNvSpPr>
          <p:nvPr/>
        </p:nvSpPr>
        <p:spPr>
          <a:xfrm>
            <a:off x="442913" y="1233305"/>
            <a:ext cx="8484956" cy="13103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实验分析：</a:t>
            </a:r>
            <a:endParaRPr lang="en-US" altLang="zh-CN" sz="2000" b="1" dirty="0">
              <a:latin typeface="+mj-lt"/>
              <a:cs typeface="Times New Roman" panose="02020603050405020304" pitchFamily="18" charset="0"/>
            </a:endParaRPr>
          </a:p>
          <a:p>
            <a:pPr>
              <a:lnSpc>
                <a:spcPct val="100000"/>
              </a:lnSpc>
            </a:pPr>
            <a:r>
              <a:rPr lang="en-US" altLang="zh-CN" sz="2000" dirty="0"/>
              <a:t>RL </a:t>
            </a:r>
            <a:r>
              <a:rPr lang="zh-CN" altLang="en-US" sz="2000" dirty="0"/>
              <a:t>会损害 </a:t>
            </a:r>
            <a:r>
              <a:rPr lang="en-US" altLang="zh-CN" sz="2000" dirty="0"/>
              <a:t>Llama </a:t>
            </a:r>
            <a:r>
              <a:rPr lang="zh-CN" altLang="en-US" sz="2000" dirty="0"/>
              <a:t>的推理扩展性能，但 </a:t>
            </a:r>
            <a:r>
              <a:rPr lang="en-US" altLang="zh-CN" sz="2000" dirty="0"/>
              <a:t>NSR </a:t>
            </a:r>
            <a:r>
              <a:rPr lang="zh-CN" altLang="en-US" sz="2000" dirty="0"/>
              <a:t>下降最小</a:t>
            </a:r>
            <a:endParaRPr lang="en-US" altLang="zh-CN" sz="2000" dirty="0"/>
          </a:p>
          <a:p>
            <a:pPr>
              <a:lnSpc>
                <a:spcPct val="100000"/>
              </a:lnSpc>
            </a:pPr>
            <a:r>
              <a:rPr lang="zh-CN" altLang="en-US" sz="2000" dirty="0"/>
              <a:t>（</a:t>
            </a:r>
            <a:r>
              <a:rPr lang="en-US" altLang="zh-CN" sz="2000" dirty="0"/>
              <a:t>Base Model </a:t>
            </a:r>
            <a:r>
              <a:rPr lang="zh-CN" altLang="en-US" sz="2000" dirty="0"/>
              <a:t>通常决定 </a:t>
            </a:r>
            <a:r>
              <a:rPr lang="en-US" altLang="zh-CN" sz="2000" dirty="0"/>
              <a:t>RL </a:t>
            </a:r>
            <a:r>
              <a:rPr lang="zh-CN" altLang="en-US" sz="2000" dirty="0"/>
              <a:t>是否能够带来优势）</a:t>
            </a:r>
            <a:endParaRPr lang="en-US" altLang="zh-CN" sz="2000" dirty="0">
              <a:cs typeface="Times New Roman" panose="02020603050405020304" pitchFamily="18" charset="0"/>
            </a:endParaRPr>
          </a:p>
        </p:txBody>
      </p:sp>
      <p:sp>
        <p:nvSpPr>
          <p:cNvPr id="8" name="标题 2">
            <a:extLst>
              <a:ext uri="{FF2B5EF4-FFF2-40B4-BE49-F238E27FC236}">
                <a16:creationId xmlns:a16="http://schemas.microsoft.com/office/drawing/2014/main" id="{E96EF49F-A7CF-1D27-5E7A-2851BA32C220}"/>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2" name="图片 1">
            <a:extLst>
              <a:ext uri="{FF2B5EF4-FFF2-40B4-BE49-F238E27FC236}">
                <a16:creationId xmlns:a16="http://schemas.microsoft.com/office/drawing/2014/main" id="{B3A7AE0E-A1A3-5E97-0930-D31D3757FA8D}"/>
              </a:ext>
            </a:extLst>
          </p:cNvPr>
          <p:cNvPicPr>
            <a:picLocks noChangeAspect="1"/>
          </p:cNvPicPr>
          <p:nvPr/>
        </p:nvPicPr>
        <p:blipFill>
          <a:blip r:embed="rId5"/>
          <a:stretch>
            <a:fillRect/>
          </a:stretch>
        </p:blipFill>
        <p:spPr>
          <a:xfrm>
            <a:off x="956505" y="2644365"/>
            <a:ext cx="10278990" cy="3420178"/>
          </a:xfrm>
          <a:prstGeom prst="rect">
            <a:avLst/>
          </a:prstGeom>
        </p:spPr>
      </p:pic>
    </p:spTree>
    <p:extLst>
      <p:ext uri="{BB962C8B-B14F-4D97-AF65-F5344CB8AC3E}">
        <p14:creationId xmlns:p14="http://schemas.microsoft.com/office/powerpoint/2010/main" val="1706248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D9790-72BD-3BCB-5B4F-AA13B6C2464B}"/>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78FE41F-AE58-200E-5E63-C117252CDA5A}"/>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EB1C83BC-7E91-98EF-B636-799445E017A2}"/>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DD5F871D-E9E4-C2E0-83DC-ED631E674F3C}"/>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B04CE437-2981-0319-5C46-974E636E598F}"/>
              </a:ext>
            </a:extLst>
          </p:cNvPr>
          <p:cNvSpPr txBox="1">
            <a:spLocks/>
          </p:cNvSpPr>
          <p:nvPr/>
        </p:nvSpPr>
        <p:spPr>
          <a:xfrm>
            <a:off x="442914" y="1233305"/>
            <a:ext cx="4417262" cy="50012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原因分析 </a:t>
            </a:r>
            <a:r>
              <a:rPr lang="en-US" altLang="zh-CN" sz="2000" b="1" dirty="0">
                <a:latin typeface="+mj-lt"/>
                <a:cs typeface="Times New Roman" panose="02020603050405020304" pitchFamily="18" charset="0"/>
              </a:rPr>
              <a:t>- </a:t>
            </a:r>
            <a:r>
              <a:rPr lang="zh-CN" altLang="en-US" sz="2000" b="1" dirty="0">
                <a:cs typeface="Times New Roman" panose="02020603050405020304" pitchFamily="18" charset="0"/>
              </a:rPr>
              <a:t>熵和多样性：</a:t>
            </a:r>
            <a:endParaRPr lang="en-US" altLang="zh-CN" sz="2000" b="1" dirty="0">
              <a:cs typeface="Times New Roman" panose="02020603050405020304" pitchFamily="18" charset="0"/>
            </a:endParaRPr>
          </a:p>
          <a:p>
            <a:pPr>
              <a:lnSpc>
                <a:spcPct val="100000"/>
              </a:lnSpc>
            </a:pPr>
            <a:r>
              <a:rPr lang="zh-CN" altLang="en-US" sz="1800" dirty="0"/>
              <a:t>（图</a:t>
            </a:r>
            <a:r>
              <a:rPr lang="en-US" altLang="zh-CN" sz="1800" dirty="0"/>
              <a:t>b</a:t>
            </a:r>
            <a:r>
              <a:rPr lang="zh-CN" altLang="en-US" sz="1800" dirty="0"/>
              <a:t>）</a:t>
            </a:r>
            <a:r>
              <a:rPr lang="en-US" altLang="zh-CN" sz="1800" dirty="0"/>
              <a:t>NSR </a:t>
            </a:r>
            <a:r>
              <a:rPr lang="zh-CN" altLang="en-US" sz="1800" dirty="0"/>
              <a:t>的熵保持较高（仍低于 </a:t>
            </a:r>
            <a:r>
              <a:rPr lang="en-US" altLang="zh-CN" sz="1800" dirty="0"/>
              <a:t>base model</a:t>
            </a:r>
            <a:r>
              <a:rPr lang="zh-CN" altLang="en-US" sz="1800" dirty="0"/>
              <a:t>），而 </a:t>
            </a:r>
            <a:r>
              <a:rPr lang="en-US" altLang="zh-CN" sz="1800" dirty="0"/>
              <a:t>PSR </a:t>
            </a:r>
            <a:r>
              <a:rPr lang="zh-CN" altLang="en-US" sz="1800" dirty="0"/>
              <a:t>变得很低。</a:t>
            </a:r>
            <a:endParaRPr lang="en-US" altLang="zh-CN" sz="1800" dirty="0"/>
          </a:p>
          <a:p>
            <a:pPr>
              <a:lnSpc>
                <a:spcPct val="100000"/>
              </a:lnSpc>
            </a:pPr>
            <a:r>
              <a:rPr lang="zh-CN" altLang="en-US" sz="1800" dirty="0"/>
              <a:t>（图</a:t>
            </a:r>
            <a:r>
              <a:rPr lang="en-US" altLang="zh-CN" sz="1800" dirty="0"/>
              <a:t>c</a:t>
            </a:r>
            <a:r>
              <a:rPr lang="zh-CN" altLang="en-US" sz="1800" dirty="0"/>
              <a:t>）正确样本率：每个 </a:t>
            </a:r>
            <a:r>
              <a:rPr lang="en-US" altLang="zh-CN" sz="1800" dirty="0"/>
              <a:t>batch </a:t>
            </a:r>
            <a:r>
              <a:rPr lang="zh-CN" altLang="en-US" sz="1800" dirty="0"/>
              <a:t>中正确 </a:t>
            </a:r>
            <a:r>
              <a:rPr lang="en-US" altLang="zh-CN" sz="1800" dirty="0"/>
              <a:t>response </a:t>
            </a:r>
            <a:r>
              <a:rPr lang="zh-CN" altLang="en-US" sz="1800" dirty="0"/>
              <a:t>的比例。</a:t>
            </a:r>
          </a:p>
          <a:p>
            <a:pPr>
              <a:lnSpc>
                <a:spcPct val="100000"/>
              </a:lnSpc>
            </a:pPr>
            <a:r>
              <a:rPr lang="zh-CN" altLang="en-US" sz="1800" dirty="0"/>
              <a:t>（图</a:t>
            </a:r>
            <a:r>
              <a:rPr lang="en-US" altLang="zh-CN" sz="1800" dirty="0"/>
              <a:t>d</a:t>
            </a:r>
            <a:r>
              <a:rPr lang="zh-CN" altLang="en-US" sz="1800" dirty="0"/>
              <a:t>）完全解决率：每个 </a:t>
            </a:r>
            <a:r>
              <a:rPr lang="en-US" altLang="zh-CN" sz="1800" dirty="0"/>
              <a:t>batch </a:t>
            </a:r>
            <a:r>
              <a:rPr lang="zh-CN" altLang="en-US" sz="1800" dirty="0"/>
              <a:t>中“所有 </a:t>
            </a:r>
            <a:r>
              <a:rPr lang="en-US" altLang="zh-CN" sz="1800" dirty="0"/>
              <a:t>rollouts </a:t>
            </a:r>
            <a:r>
              <a:rPr lang="zh-CN" altLang="en-US" sz="1800" dirty="0"/>
              <a:t>都正确”的问题的比例。</a:t>
            </a:r>
          </a:p>
          <a:p>
            <a:pPr>
              <a:lnSpc>
                <a:spcPct val="100000"/>
              </a:lnSpc>
            </a:pPr>
            <a:r>
              <a:rPr lang="en-US" altLang="zh-CN" sz="1800" dirty="0"/>
              <a:t>NSR </a:t>
            </a:r>
            <a:r>
              <a:rPr lang="zh-CN" altLang="en-US" sz="1800" dirty="0"/>
              <a:t>持续提高二者，但整体保持较低，表明 </a:t>
            </a:r>
            <a:r>
              <a:rPr lang="en-US" altLang="zh-CN" sz="1800" dirty="0"/>
              <a:t>NSR </a:t>
            </a:r>
            <a:r>
              <a:rPr lang="zh-CN" altLang="en-US" sz="1800" dirty="0"/>
              <a:t>避免在正确 </a:t>
            </a:r>
            <a:r>
              <a:rPr lang="en-US" altLang="zh-CN" sz="1800" dirty="0"/>
              <a:t>responses </a:t>
            </a:r>
            <a:r>
              <a:rPr lang="zh-CN" altLang="en-US" sz="1800" dirty="0"/>
              <a:t>上过度自信。</a:t>
            </a:r>
          </a:p>
          <a:p>
            <a:pPr>
              <a:lnSpc>
                <a:spcPct val="100000"/>
              </a:lnSpc>
            </a:pPr>
            <a:r>
              <a:rPr lang="en-US" altLang="zh-CN" sz="1800" dirty="0"/>
              <a:t>PSR </a:t>
            </a:r>
            <a:r>
              <a:rPr lang="zh-CN" altLang="en-US" sz="1800" dirty="0"/>
              <a:t>快速提高这两个比率，可能过拟合的趋势。</a:t>
            </a:r>
          </a:p>
          <a:p>
            <a:pPr marL="0" indent="0">
              <a:lnSpc>
                <a:spcPct val="100000"/>
              </a:lnSpc>
              <a:buNone/>
            </a:pPr>
            <a:endParaRPr lang="en-US" altLang="zh-CN" sz="2000" b="1" dirty="0">
              <a:cs typeface="Times New Roman" panose="02020603050405020304" pitchFamily="18" charset="0"/>
            </a:endParaRPr>
          </a:p>
        </p:txBody>
      </p:sp>
      <p:sp>
        <p:nvSpPr>
          <p:cNvPr id="8" name="标题 2">
            <a:extLst>
              <a:ext uri="{FF2B5EF4-FFF2-40B4-BE49-F238E27FC236}">
                <a16:creationId xmlns:a16="http://schemas.microsoft.com/office/drawing/2014/main" id="{88D5C96B-9577-2067-DCC2-2F626733D56E}"/>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4" name="图片 3">
            <a:extLst>
              <a:ext uri="{FF2B5EF4-FFF2-40B4-BE49-F238E27FC236}">
                <a16:creationId xmlns:a16="http://schemas.microsoft.com/office/drawing/2014/main" id="{A90F8EB8-0931-B893-E9F1-C03D23892E7E}"/>
              </a:ext>
            </a:extLst>
          </p:cNvPr>
          <p:cNvPicPr>
            <a:picLocks noChangeAspect="1"/>
          </p:cNvPicPr>
          <p:nvPr/>
        </p:nvPicPr>
        <p:blipFill>
          <a:blip r:embed="rId5"/>
          <a:stretch>
            <a:fillRect/>
          </a:stretch>
        </p:blipFill>
        <p:spPr>
          <a:xfrm>
            <a:off x="4971338" y="1449282"/>
            <a:ext cx="6937782" cy="4356876"/>
          </a:xfrm>
          <a:prstGeom prst="rect">
            <a:avLst/>
          </a:prstGeom>
        </p:spPr>
      </p:pic>
    </p:spTree>
    <p:extLst>
      <p:ext uri="{BB962C8B-B14F-4D97-AF65-F5344CB8AC3E}">
        <p14:creationId xmlns:p14="http://schemas.microsoft.com/office/powerpoint/2010/main" val="4029509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B00A5-6801-8F9E-D5A4-8FB94C59456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7814FD7-8163-2F6D-649F-D72D957ED511}"/>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AD7A1BCB-77A8-CDAC-F45D-194BD42D0858}"/>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EB1C83BC-7E91-98EF-B636-799445E017A2}"/>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AF904A8E-C946-4363-BBB8-8BEB11F21F83}"/>
              </a:ext>
            </a:extLst>
          </p:cNvPr>
          <p:cNvSpPr txBox="1">
            <a:spLocks/>
          </p:cNvSpPr>
          <p:nvPr/>
        </p:nvSpPr>
        <p:spPr>
          <a:xfrm>
            <a:off x="442913" y="1233305"/>
            <a:ext cx="10191835" cy="2767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原因分析 </a:t>
            </a:r>
            <a:r>
              <a:rPr lang="en-US" altLang="zh-CN" sz="2000" b="1" dirty="0">
                <a:latin typeface="+mj-lt"/>
                <a:cs typeface="Times New Roman" panose="02020603050405020304" pitchFamily="18" charset="0"/>
              </a:rPr>
              <a:t>– </a:t>
            </a:r>
            <a:r>
              <a:rPr lang="zh-CN" altLang="en-US" sz="2000" b="1" dirty="0">
                <a:cs typeface="Times New Roman" panose="02020603050405020304" pitchFamily="18" charset="0"/>
              </a:rPr>
              <a:t>梯度：</a:t>
            </a:r>
            <a:endParaRPr lang="en-US" altLang="zh-CN" sz="2000" b="1" dirty="0">
              <a:cs typeface="Times New Roman" panose="02020603050405020304" pitchFamily="18" charset="0"/>
            </a:endParaRPr>
          </a:p>
          <a:p>
            <a:r>
              <a:rPr lang="en-US" altLang="zh-CN" sz="1800" dirty="0"/>
              <a:t>PSR </a:t>
            </a:r>
            <a:r>
              <a:rPr lang="zh-CN" altLang="en-US" sz="1800" dirty="0"/>
              <a:t>增强正确 </a:t>
            </a:r>
            <a:r>
              <a:rPr lang="en-US" altLang="zh-CN" sz="1800" dirty="0"/>
              <a:t>response</a:t>
            </a:r>
            <a:r>
              <a:rPr lang="zh-CN" altLang="en-US" sz="1800" dirty="0"/>
              <a:t>，但按 </a:t>
            </a:r>
            <a:r>
              <a:rPr lang="en-US" altLang="zh-CN" sz="1800" dirty="0"/>
              <a:t>token </a:t>
            </a:r>
            <a:r>
              <a:rPr lang="zh-CN" altLang="en-US" sz="1800" dirty="0"/>
              <a:t>概率来抑制其他回答，高概率回答被抑制更多</a:t>
            </a:r>
          </a:p>
          <a:p>
            <a:r>
              <a:rPr lang="en-US" altLang="zh-CN" sz="1800" dirty="0"/>
              <a:t>NSR </a:t>
            </a:r>
            <a:r>
              <a:rPr lang="zh-CN" altLang="en-US" sz="1800" dirty="0"/>
              <a:t>惩罚错误 </a:t>
            </a:r>
            <a:r>
              <a:rPr lang="en-US" altLang="zh-CN" sz="1800" dirty="0"/>
              <a:t>response</a:t>
            </a:r>
            <a:r>
              <a:rPr lang="zh-CN" altLang="en-US" sz="1800" dirty="0"/>
              <a:t>，同时按照其他 </a:t>
            </a:r>
            <a:r>
              <a:rPr lang="en-US" altLang="zh-CN" sz="1800" dirty="0"/>
              <a:t>token </a:t>
            </a:r>
            <a:r>
              <a:rPr lang="zh-CN" altLang="en-US" sz="1800" dirty="0"/>
              <a:t>当前的概率来增加其 </a:t>
            </a:r>
            <a:r>
              <a:rPr lang="en-US" altLang="zh-CN" sz="1800" dirty="0"/>
              <a:t>logits</a:t>
            </a:r>
          </a:p>
          <a:p>
            <a:pPr marL="0" indent="0">
              <a:buNone/>
            </a:pPr>
            <a:r>
              <a:rPr lang="en-US" altLang="zh-CN" sz="1800" b="1" dirty="0"/>
              <a:t>NSR </a:t>
            </a:r>
            <a:r>
              <a:rPr lang="zh-CN" altLang="en-US" sz="1800" b="1" dirty="0"/>
              <a:t>优点：</a:t>
            </a:r>
          </a:p>
          <a:p>
            <a:r>
              <a:rPr lang="zh-CN" altLang="en-US" sz="1800" dirty="0"/>
              <a:t>保留高置信度的先验</a:t>
            </a:r>
            <a:endParaRPr lang="en-US" altLang="zh-CN" sz="1800" dirty="0"/>
          </a:p>
          <a:p>
            <a:r>
              <a:rPr lang="zh-CN" altLang="en-US" sz="1800" dirty="0"/>
              <a:t>先验引导的概率重分配</a:t>
            </a:r>
            <a:endParaRPr lang="en-US" altLang="zh-CN" sz="1800" dirty="0"/>
          </a:p>
          <a:p>
            <a:r>
              <a:rPr lang="zh-CN" altLang="en-US" sz="1800" dirty="0"/>
              <a:t>针对过拟合的隐式正则化</a:t>
            </a:r>
          </a:p>
          <a:p>
            <a:pPr marL="0" indent="0">
              <a:lnSpc>
                <a:spcPct val="100000"/>
              </a:lnSpc>
              <a:buNone/>
            </a:pPr>
            <a:endParaRPr lang="en-US" altLang="zh-CN" sz="2000" b="1" dirty="0">
              <a:cs typeface="Times New Roman" panose="02020603050405020304" pitchFamily="18" charset="0"/>
            </a:endParaRPr>
          </a:p>
        </p:txBody>
      </p:sp>
      <p:sp>
        <p:nvSpPr>
          <p:cNvPr id="8" name="标题 2">
            <a:extLst>
              <a:ext uri="{FF2B5EF4-FFF2-40B4-BE49-F238E27FC236}">
                <a16:creationId xmlns:a16="http://schemas.microsoft.com/office/drawing/2014/main" id="{6DA7E683-3365-3E02-165A-20E9E2343091}"/>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2" name="图片 1">
            <a:extLst>
              <a:ext uri="{FF2B5EF4-FFF2-40B4-BE49-F238E27FC236}">
                <a16:creationId xmlns:a16="http://schemas.microsoft.com/office/drawing/2014/main" id="{094E8882-6464-5361-FC06-57175077DCB5}"/>
              </a:ext>
            </a:extLst>
          </p:cNvPr>
          <p:cNvPicPr>
            <a:picLocks noChangeAspect="1"/>
          </p:cNvPicPr>
          <p:nvPr/>
        </p:nvPicPr>
        <p:blipFill>
          <a:blip r:embed="rId5"/>
          <a:stretch>
            <a:fillRect/>
          </a:stretch>
        </p:blipFill>
        <p:spPr>
          <a:xfrm>
            <a:off x="4149013" y="2768600"/>
            <a:ext cx="7372087" cy="961577"/>
          </a:xfrm>
          <a:prstGeom prst="rect">
            <a:avLst/>
          </a:prstGeom>
        </p:spPr>
      </p:pic>
      <p:pic>
        <p:nvPicPr>
          <p:cNvPr id="5" name="图片 4">
            <a:extLst>
              <a:ext uri="{FF2B5EF4-FFF2-40B4-BE49-F238E27FC236}">
                <a16:creationId xmlns:a16="http://schemas.microsoft.com/office/drawing/2014/main" id="{57891AD4-B053-FA23-8A0D-E49876DB2AC0}"/>
              </a:ext>
            </a:extLst>
          </p:cNvPr>
          <p:cNvPicPr>
            <a:picLocks noChangeAspect="1"/>
          </p:cNvPicPr>
          <p:nvPr/>
        </p:nvPicPr>
        <p:blipFill>
          <a:blip r:embed="rId6"/>
          <a:stretch>
            <a:fillRect/>
          </a:stretch>
        </p:blipFill>
        <p:spPr>
          <a:xfrm>
            <a:off x="2870773" y="4146349"/>
            <a:ext cx="6131171" cy="819120"/>
          </a:xfrm>
          <a:prstGeom prst="rect">
            <a:avLst/>
          </a:prstGeom>
        </p:spPr>
      </p:pic>
      <p:pic>
        <p:nvPicPr>
          <p:cNvPr id="6" name="图片 5">
            <a:extLst>
              <a:ext uri="{FF2B5EF4-FFF2-40B4-BE49-F238E27FC236}">
                <a16:creationId xmlns:a16="http://schemas.microsoft.com/office/drawing/2014/main" id="{CB4819D3-F4D8-4CEA-1D29-6EE332888B79}"/>
              </a:ext>
            </a:extLst>
          </p:cNvPr>
          <p:cNvPicPr>
            <a:picLocks noChangeAspect="1"/>
          </p:cNvPicPr>
          <p:nvPr/>
        </p:nvPicPr>
        <p:blipFill>
          <a:blip r:embed="rId7"/>
          <a:stretch>
            <a:fillRect/>
          </a:stretch>
        </p:blipFill>
        <p:spPr>
          <a:xfrm>
            <a:off x="2748419" y="5212635"/>
            <a:ext cx="6462613" cy="819120"/>
          </a:xfrm>
          <a:prstGeom prst="rect">
            <a:avLst/>
          </a:prstGeom>
        </p:spPr>
      </p:pic>
    </p:spTree>
    <p:extLst>
      <p:ext uri="{BB962C8B-B14F-4D97-AF65-F5344CB8AC3E}">
        <p14:creationId xmlns:p14="http://schemas.microsoft.com/office/powerpoint/2010/main" val="2781756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6C44D-1719-01D3-1E6F-64FEB5703F15}"/>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590C320-37C4-AD41-03F6-DDC2ED5EF04C}"/>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6FB45859-E2E7-100F-1193-2645006848A0}"/>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AD7A1BCB-77A8-CDAC-F45D-194BD42D0858}"/>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EB738059-07EC-257D-D961-7D7A621736EC}"/>
              </a:ext>
            </a:extLst>
          </p:cNvPr>
          <p:cNvSpPr txBox="1">
            <a:spLocks/>
          </p:cNvSpPr>
          <p:nvPr/>
        </p:nvSpPr>
        <p:spPr>
          <a:xfrm>
            <a:off x="442914" y="1233305"/>
            <a:ext cx="3192520" cy="695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原因分析 </a:t>
            </a:r>
            <a:r>
              <a:rPr lang="en-US" altLang="zh-CN" sz="2000" b="1" dirty="0">
                <a:latin typeface="+mj-lt"/>
                <a:cs typeface="Times New Roman" panose="02020603050405020304" pitchFamily="18" charset="0"/>
              </a:rPr>
              <a:t>– </a:t>
            </a:r>
            <a:r>
              <a:rPr lang="zh-CN" altLang="en-US" sz="2000" b="1" dirty="0">
                <a:cs typeface="Times New Roman" panose="02020603050405020304" pitchFamily="18" charset="0"/>
              </a:rPr>
              <a:t>梯度：</a:t>
            </a:r>
            <a:endParaRPr lang="en-US" altLang="zh-CN" sz="2000" b="1" dirty="0">
              <a:cs typeface="Times New Roman" panose="02020603050405020304" pitchFamily="18" charset="0"/>
            </a:endParaRPr>
          </a:p>
          <a:p>
            <a:pPr marL="0" indent="0">
              <a:lnSpc>
                <a:spcPct val="100000"/>
              </a:lnSpc>
              <a:buNone/>
            </a:pPr>
            <a:endParaRPr lang="en-US" altLang="zh-CN" sz="2000" b="1" dirty="0">
              <a:cs typeface="Times New Roman" panose="02020603050405020304" pitchFamily="18" charset="0"/>
            </a:endParaRPr>
          </a:p>
        </p:txBody>
      </p:sp>
      <p:sp>
        <p:nvSpPr>
          <p:cNvPr id="8" name="标题 2">
            <a:extLst>
              <a:ext uri="{FF2B5EF4-FFF2-40B4-BE49-F238E27FC236}">
                <a16:creationId xmlns:a16="http://schemas.microsoft.com/office/drawing/2014/main" id="{FFEDA328-FA2C-910D-2D10-4F29C640B3C8}"/>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4" name="图片 3">
            <a:extLst>
              <a:ext uri="{FF2B5EF4-FFF2-40B4-BE49-F238E27FC236}">
                <a16:creationId xmlns:a16="http://schemas.microsoft.com/office/drawing/2014/main" id="{6A612C0B-51DD-6806-C7E0-67C550D5A54A}"/>
              </a:ext>
            </a:extLst>
          </p:cNvPr>
          <p:cNvPicPr>
            <a:picLocks noChangeAspect="1"/>
          </p:cNvPicPr>
          <p:nvPr/>
        </p:nvPicPr>
        <p:blipFill>
          <a:blip r:embed="rId5"/>
          <a:stretch>
            <a:fillRect/>
          </a:stretch>
        </p:blipFill>
        <p:spPr>
          <a:xfrm>
            <a:off x="442913" y="1928553"/>
            <a:ext cx="11027736" cy="3874610"/>
          </a:xfrm>
          <a:prstGeom prst="rect">
            <a:avLst/>
          </a:prstGeom>
        </p:spPr>
      </p:pic>
    </p:spTree>
    <p:extLst>
      <p:ext uri="{BB962C8B-B14F-4D97-AF65-F5344CB8AC3E}">
        <p14:creationId xmlns:p14="http://schemas.microsoft.com/office/powerpoint/2010/main" val="281230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C25B0-1AC5-7EEA-6870-737C5560C8C6}"/>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7347383-6D01-6BE7-3D5E-E4032EEE96DD}"/>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ED4AA144-F3F1-4FC1-87BC-53531241FD49}"/>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AD7A1BCB-77A8-CDAC-F45D-194BD42D0858}"/>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3EDE5AC7-324F-7423-A219-25DB4435CBF0}"/>
              </a:ext>
            </a:extLst>
          </p:cNvPr>
          <p:cNvSpPr txBox="1">
            <a:spLocks/>
          </p:cNvSpPr>
          <p:nvPr/>
        </p:nvSpPr>
        <p:spPr>
          <a:xfrm>
            <a:off x="442914" y="1233305"/>
            <a:ext cx="1829232" cy="4292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cs typeface="Times New Roman" panose="02020603050405020304" pitchFamily="18" charset="0"/>
              </a:rPr>
              <a:t>梯度对比：</a:t>
            </a:r>
            <a:endParaRPr lang="en-US" altLang="zh-CN" sz="2000" b="1" dirty="0">
              <a:cs typeface="Times New Roman" panose="02020603050405020304" pitchFamily="18" charset="0"/>
            </a:endParaRPr>
          </a:p>
          <a:p>
            <a:pPr marL="0" indent="0">
              <a:lnSpc>
                <a:spcPct val="100000"/>
              </a:lnSpc>
              <a:buNone/>
            </a:pPr>
            <a:endParaRPr lang="en-US" altLang="zh-CN" sz="2000" b="1" dirty="0">
              <a:cs typeface="Times New Roman" panose="02020603050405020304" pitchFamily="18" charset="0"/>
            </a:endParaRPr>
          </a:p>
        </p:txBody>
      </p:sp>
      <p:sp>
        <p:nvSpPr>
          <p:cNvPr id="8" name="标题 2">
            <a:extLst>
              <a:ext uri="{FF2B5EF4-FFF2-40B4-BE49-F238E27FC236}">
                <a16:creationId xmlns:a16="http://schemas.microsoft.com/office/drawing/2014/main" id="{72EB754F-4AB4-510F-FFDB-8715223CD793}"/>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sp>
        <p:nvSpPr>
          <p:cNvPr id="4" name="文本占位符 2">
            <a:extLst>
              <a:ext uri="{FF2B5EF4-FFF2-40B4-BE49-F238E27FC236}">
                <a16:creationId xmlns:a16="http://schemas.microsoft.com/office/drawing/2014/main" id="{D3EEAF94-5909-950A-393B-191AF46BCECA}"/>
              </a:ext>
            </a:extLst>
          </p:cNvPr>
          <p:cNvSpPr txBox="1">
            <a:spLocks/>
          </p:cNvSpPr>
          <p:nvPr/>
        </p:nvSpPr>
        <p:spPr>
          <a:xfrm>
            <a:off x="442914" y="1759183"/>
            <a:ext cx="1829232" cy="4292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2000" b="1" dirty="0">
                <a:cs typeface="Times New Roman" panose="02020603050405020304" pitchFamily="18" charset="0"/>
              </a:rPr>
              <a:t>Entropy loss</a:t>
            </a:r>
          </a:p>
        </p:txBody>
      </p:sp>
      <p:sp>
        <p:nvSpPr>
          <p:cNvPr id="9" name="文本占位符 2">
            <a:extLst>
              <a:ext uri="{FF2B5EF4-FFF2-40B4-BE49-F238E27FC236}">
                <a16:creationId xmlns:a16="http://schemas.microsoft.com/office/drawing/2014/main" id="{62D1ED9E-4F47-24D9-8FDC-2196BCA8C6B5}"/>
              </a:ext>
            </a:extLst>
          </p:cNvPr>
          <p:cNvSpPr txBox="1">
            <a:spLocks/>
          </p:cNvSpPr>
          <p:nvPr/>
        </p:nvSpPr>
        <p:spPr>
          <a:xfrm>
            <a:off x="5951913" y="1759183"/>
            <a:ext cx="3463636" cy="4292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2000" b="1" dirty="0"/>
              <a:t>Unlikelihood training</a:t>
            </a:r>
            <a:endParaRPr lang="en-US" altLang="zh-CN" sz="2000" b="1" dirty="0">
              <a:cs typeface="Times New Roman" panose="02020603050405020304" pitchFamily="18" charset="0"/>
            </a:endParaRPr>
          </a:p>
        </p:txBody>
      </p:sp>
      <p:pic>
        <p:nvPicPr>
          <p:cNvPr id="10" name="图片 9">
            <a:extLst>
              <a:ext uri="{FF2B5EF4-FFF2-40B4-BE49-F238E27FC236}">
                <a16:creationId xmlns:a16="http://schemas.microsoft.com/office/drawing/2014/main" id="{D0FB62FB-2566-C910-EE44-F62B49907CC4}"/>
              </a:ext>
            </a:extLst>
          </p:cNvPr>
          <p:cNvPicPr>
            <a:picLocks noChangeAspect="1"/>
          </p:cNvPicPr>
          <p:nvPr/>
        </p:nvPicPr>
        <p:blipFill>
          <a:blip r:embed="rId5"/>
          <a:stretch>
            <a:fillRect/>
          </a:stretch>
        </p:blipFill>
        <p:spPr>
          <a:xfrm>
            <a:off x="442913" y="3622920"/>
            <a:ext cx="914617" cy="821289"/>
          </a:xfrm>
          <a:prstGeom prst="rect">
            <a:avLst/>
          </a:prstGeom>
        </p:spPr>
      </p:pic>
      <p:pic>
        <p:nvPicPr>
          <p:cNvPr id="11" name="图片 10">
            <a:extLst>
              <a:ext uri="{FF2B5EF4-FFF2-40B4-BE49-F238E27FC236}">
                <a16:creationId xmlns:a16="http://schemas.microsoft.com/office/drawing/2014/main" id="{6BB5E31B-6F93-F7E0-81D5-D55C3D08DF9D}"/>
              </a:ext>
            </a:extLst>
          </p:cNvPr>
          <p:cNvPicPr>
            <a:picLocks noChangeAspect="1"/>
          </p:cNvPicPr>
          <p:nvPr/>
        </p:nvPicPr>
        <p:blipFill>
          <a:blip r:embed="rId6"/>
          <a:stretch>
            <a:fillRect/>
          </a:stretch>
        </p:blipFill>
        <p:spPr>
          <a:xfrm>
            <a:off x="881148" y="2285061"/>
            <a:ext cx="3819523" cy="875454"/>
          </a:xfrm>
          <a:prstGeom prst="rect">
            <a:avLst/>
          </a:prstGeom>
        </p:spPr>
      </p:pic>
      <p:pic>
        <p:nvPicPr>
          <p:cNvPr id="13" name="图片 12">
            <a:extLst>
              <a:ext uri="{FF2B5EF4-FFF2-40B4-BE49-F238E27FC236}">
                <a16:creationId xmlns:a16="http://schemas.microsoft.com/office/drawing/2014/main" id="{CA57AAEA-7E53-D0F9-844E-2EE898FEC227}"/>
              </a:ext>
            </a:extLst>
          </p:cNvPr>
          <p:cNvPicPr>
            <a:picLocks noChangeAspect="1"/>
          </p:cNvPicPr>
          <p:nvPr/>
        </p:nvPicPr>
        <p:blipFill>
          <a:blip r:embed="rId7"/>
          <a:stretch>
            <a:fillRect/>
          </a:stretch>
        </p:blipFill>
        <p:spPr>
          <a:xfrm>
            <a:off x="1412948" y="3160515"/>
            <a:ext cx="3606104" cy="1770623"/>
          </a:xfrm>
          <a:prstGeom prst="rect">
            <a:avLst/>
          </a:prstGeom>
        </p:spPr>
      </p:pic>
      <p:sp>
        <p:nvSpPr>
          <p:cNvPr id="14" name="文本占位符 2">
            <a:extLst>
              <a:ext uri="{FF2B5EF4-FFF2-40B4-BE49-F238E27FC236}">
                <a16:creationId xmlns:a16="http://schemas.microsoft.com/office/drawing/2014/main" id="{3C4DE330-3353-230C-0B32-D2FA3923BEAB}"/>
              </a:ext>
            </a:extLst>
          </p:cNvPr>
          <p:cNvSpPr txBox="1">
            <a:spLocks/>
          </p:cNvSpPr>
          <p:nvPr/>
        </p:nvSpPr>
        <p:spPr>
          <a:xfrm>
            <a:off x="523269" y="5261189"/>
            <a:ext cx="5026631" cy="5454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t>盲目地打压高概率 </a:t>
            </a:r>
            <a:r>
              <a:rPr lang="en-US" altLang="zh-CN" sz="1800" dirty="0"/>
              <a:t>token</a:t>
            </a:r>
            <a:r>
              <a:rPr lang="zh-CN" altLang="en-US" sz="1800" dirty="0"/>
              <a:t>，提升低概率 </a:t>
            </a:r>
            <a:r>
              <a:rPr lang="en-US" altLang="zh-CN" sz="1800" dirty="0"/>
              <a:t>token</a:t>
            </a:r>
            <a:r>
              <a:rPr lang="zh-CN" altLang="en-US" sz="1800" dirty="0"/>
              <a:t>。</a:t>
            </a:r>
            <a:endParaRPr lang="en-US" altLang="zh-CN" sz="1800" dirty="0">
              <a:cs typeface="Times New Roman" panose="02020603050405020304" pitchFamily="18" charset="0"/>
            </a:endParaRPr>
          </a:p>
        </p:txBody>
      </p:sp>
      <p:pic>
        <p:nvPicPr>
          <p:cNvPr id="15" name="图片 14">
            <a:extLst>
              <a:ext uri="{FF2B5EF4-FFF2-40B4-BE49-F238E27FC236}">
                <a16:creationId xmlns:a16="http://schemas.microsoft.com/office/drawing/2014/main" id="{B8349F14-5D4E-3BB5-5B8E-BB0522222D82}"/>
              </a:ext>
            </a:extLst>
          </p:cNvPr>
          <p:cNvPicPr>
            <a:picLocks noChangeAspect="1"/>
          </p:cNvPicPr>
          <p:nvPr/>
        </p:nvPicPr>
        <p:blipFill>
          <a:blip r:embed="rId8"/>
          <a:stretch>
            <a:fillRect/>
          </a:stretch>
        </p:blipFill>
        <p:spPr>
          <a:xfrm>
            <a:off x="5990866" y="2326526"/>
            <a:ext cx="5243037" cy="854375"/>
          </a:xfrm>
          <a:prstGeom prst="rect">
            <a:avLst/>
          </a:prstGeom>
        </p:spPr>
      </p:pic>
      <p:pic>
        <p:nvPicPr>
          <p:cNvPr id="16" name="图片 15">
            <a:extLst>
              <a:ext uri="{FF2B5EF4-FFF2-40B4-BE49-F238E27FC236}">
                <a16:creationId xmlns:a16="http://schemas.microsoft.com/office/drawing/2014/main" id="{F72446D5-7563-6D5F-C976-D211959C89B8}"/>
              </a:ext>
            </a:extLst>
          </p:cNvPr>
          <p:cNvPicPr>
            <a:picLocks noChangeAspect="1"/>
          </p:cNvPicPr>
          <p:nvPr/>
        </p:nvPicPr>
        <p:blipFill>
          <a:blip r:embed="rId9"/>
          <a:stretch>
            <a:fillRect/>
          </a:stretch>
        </p:blipFill>
        <p:spPr>
          <a:xfrm>
            <a:off x="5807827" y="3622920"/>
            <a:ext cx="6224520" cy="1095745"/>
          </a:xfrm>
          <a:prstGeom prst="rect">
            <a:avLst/>
          </a:prstGeom>
        </p:spPr>
      </p:pic>
      <p:sp>
        <p:nvSpPr>
          <p:cNvPr id="17" name="文本占位符 2">
            <a:extLst>
              <a:ext uri="{FF2B5EF4-FFF2-40B4-BE49-F238E27FC236}">
                <a16:creationId xmlns:a16="http://schemas.microsoft.com/office/drawing/2014/main" id="{9934B208-C8F8-AFBF-CE2C-C4159638FE7A}"/>
              </a:ext>
            </a:extLst>
          </p:cNvPr>
          <p:cNvSpPr txBox="1">
            <a:spLocks/>
          </p:cNvSpPr>
          <p:nvPr/>
        </p:nvSpPr>
        <p:spPr>
          <a:xfrm>
            <a:off x="5951913" y="5261189"/>
            <a:ext cx="5652991" cy="6948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t>对高概率的错误 </a:t>
            </a:r>
            <a:r>
              <a:rPr lang="en-US" altLang="zh-CN" sz="1800" dirty="0"/>
              <a:t>token </a:t>
            </a:r>
            <a:r>
              <a:rPr lang="zh-CN" altLang="en-US" sz="1800" dirty="0"/>
              <a:t>打压更多，可能破坏先验知识。</a:t>
            </a:r>
            <a:endParaRPr lang="en-US" altLang="zh-CN" sz="1800" dirty="0">
              <a:cs typeface="Times New Roman" panose="02020603050405020304" pitchFamily="18" charset="0"/>
            </a:endParaRPr>
          </a:p>
        </p:txBody>
      </p:sp>
    </p:spTree>
    <p:extLst>
      <p:ext uri="{BB962C8B-B14F-4D97-AF65-F5344CB8AC3E}">
        <p14:creationId xmlns:p14="http://schemas.microsoft.com/office/powerpoint/2010/main" val="413253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680C-BC4C-ADBB-600E-443B43F9BB0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CFD21FD-1AC4-67B0-A5FD-37EB61CFE549}"/>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graphicFrame>
        <p:nvGraphicFramePr>
          <p:cNvPr id="7" name="对象 6">
            <a:extLst>
              <a:ext uri="{FF2B5EF4-FFF2-40B4-BE49-F238E27FC236}">
                <a16:creationId xmlns:a16="http://schemas.microsoft.com/office/drawing/2014/main" id="{088A7CE0-6848-DB2C-D4C3-1BF63F60CC91}"/>
              </a:ext>
            </a:extLst>
          </p:cNvPr>
          <p:cNvGraphicFramePr>
            <a:graphicFrameLocks noChangeAspect="1"/>
          </p:cNvGraphicFramePr>
          <p:nvPr/>
        </p:nvGraphicFramePr>
        <p:xfrm>
          <a:off x="4635500" y="27686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7" name="对象 6">
                        <a:extLst>
                          <a:ext uri="{FF2B5EF4-FFF2-40B4-BE49-F238E27FC236}">
                            <a16:creationId xmlns:a16="http://schemas.microsoft.com/office/drawing/2014/main" id="{AD7A1BCB-77A8-CDAC-F45D-194BD42D0858}"/>
                          </a:ext>
                        </a:extLst>
                      </p:cNvPr>
                      <p:cNvPicPr/>
                      <p:nvPr/>
                    </p:nvPicPr>
                    <p:blipFill>
                      <a:blip r:embed="rId4"/>
                      <a:stretch>
                        <a:fillRect/>
                      </a:stretch>
                    </p:blipFill>
                    <p:spPr>
                      <a:xfrm>
                        <a:off x="4635500" y="2768600"/>
                        <a:ext cx="914400" cy="198438"/>
                      </a:xfrm>
                      <a:prstGeom prst="rect">
                        <a:avLst/>
                      </a:prstGeom>
                    </p:spPr>
                  </p:pic>
                </p:oleObj>
              </mc:Fallback>
            </mc:AlternateContent>
          </a:graphicData>
        </a:graphic>
      </p:graphicFrame>
      <p:sp>
        <p:nvSpPr>
          <p:cNvPr id="12" name="文本占位符 2">
            <a:extLst>
              <a:ext uri="{FF2B5EF4-FFF2-40B4-BE49-F238E27FC236}">
                <a16:creationId xmlns:a16="http://schemas.microsoft.com/office/drawing/2014/main" id="{DB00CB39-3FDF-A479-7A2F-DB3277499F19}"/>
              </a:ext>
            </a:extLst>
          </p:cNvPr>
          <p:cNvSpPr txBox="1">
            <a:spLocks/>
          </p:cNvSpPr>
          <p:nvPr/>
        </p:nvSpPr>
        <p:spPr>
          <a:xfrm>
            <a:off x="442913" y="1233305"/>
            <a:ext cx="1092171" cy="5012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mj-lt"/>
                <a:cs typeface="Times New Roman" panose="02020603050405020304" pitchFamily="18" charset="0"/>
              </a:rPr>
              <a:t>方法</a:t>
            </a:r>
            <a:r>
              <a:rPr lang="zh-CN" altLang="en-US" sz="2000" b="1" dirty="0">
                <a:cs typeface="Times New Roman" panose="02020603050405020304" pitchFamily="18" charset="0"/>
              </a:rPr>
              <a:t>：</a:t>
            </a:r>
            <a:endParaRPr lang="en-US" altLang="zh-CN" sz="2000" b="1" dirty="0">
              <a:cs typeface="Times New Roman" panose="02020603050405020304" pitchFamily="18" charset="0"/>
            </a:endParaRPr>
          </a:p>
          <a:p>
            <a:pPr marL="0" indent="0">
              <a:lnSpc>
                <a:spcPct val="100000"/>
              </a:lnSpc>
              <a:buNone/>
            </a:pPr>
            <a:endParaRPr lang="en-US" altLang="zh-CN" sz="2000" b="1" dirty="0">
              <a:cs typeface="Times New Roman" panose="02020603050405020304" pitchFamily="18" charset="0"/>
            </a:endParaRPr>
          </a:p>
        </p:txBody>
      </p:sp>
      <p:sp>
        <p:nvSpPr>
          <p:cNvPr id="8" name="标题 2">
            <a:extLst>
              <a:ext uri="{FF2B5EF4-FFF2-40B4-BE49-F238E27FC236}">
                <a16:creationId xmlns:a16="http://schemas.microsoft.com/office/drawing/2014/main" id="{70909E93-9038-2AEF-E845-0A04F10AFAD8}"/>
              </a:ext>
            </a:extLst>
          </p:cNvPr>
          <p:cNvSpPr>
            <a:spLocks noGrp="1"/>
          </p:cNvSpPr>
          <p:nvPr>
            <p:ph type="title"/>
          </p:nvPr>
        </p:nvSpPr>
        <p:spPr>
          <a:xfrm>
            <a:off x="442913" y="243569"/>
            <a:ext cx="9056851" cy="617518"/>
          </a:xfrm>
        </p:spPr>
        <p:txBody>
          <a:bodyPr/>
          <a:lstStyle/>
          <a:p>
            <a:r>
              <a:rPr lang="en-US" altLang="zh-CN" dirty="0"/>
              <a:t>RLVR-Decomposed</a:t>
            </a:r>
            <a:endParaRPr lang="zh-CN" altLang="en-US" dirty="0"/>
          </a:p>
        </p:txBody>
      </p:sp>
      <p:pic>
        <p:nvPicPr>
          <p:cNvPr id="9" name="图片 8">
            <a:extLst>
              <a:ext uri="{FF2B5EF4-FFF2-40B4-BE49-F238E27FC236}">
                <a16:creationId xmlns:a16="http://schemas.microsoft.com/office/drawing/2014/main" id="{99D9BE67-2443-A360-B222-AE920EC64A79}"/>
              </a:ext>
            </a:extLst>
          </p:cNvPr>
          <p:cNvPicPr>
            <a:picLocks noChangeAspect="1"/>
          </p:cNvPicPr>
          <p:nvPr/>
        </p:nvPicPr>
        <p:blipFill>
          <a:blip r:embed="rId5"/>
          <a:stretch>
            <a:fillRect/>
          </a:stretch>
        </p:blipFill>
        <p:spPr>
          <a:xfrm>
            <a:off x="4904509" y="964166"/>
            <a:ext cx="6946219" cy="5327107"/>
          </a:xfrm>
          <a:prstGeom prst="rect">
            <a:avLst/>
          </a:prstGeom>
        </p:spPr>
      </p:pic>
      <p:pic>
        <p:nvPicPr>
          <p:cNvPr id="11" name="图片 10">
            <a:extLst>
              <a:ext uri="{FF2B5EF4-FFF2-40B4-BE49-F238E27FC236}">
                <a16:creationId xmlns:a16="http://schemas.microsoft.com/office/drawing/2014/main" id="{7AD40928-96A5-12A8-7BBF-98523F7F1E52}"/>
              </a:ext>
            </a:extLst>
          </p:cNvPr>
          <p:cNvPicPr>
            <a:picLocks noChangeAspect="1"/>
          </p:cNvPicPr>
          <p:nvPr/>
        </p:nvPicPr>
        <p:blipFill>
          <a:blip r:embed="rId6"/>
          <a:stretch>
            <a:fillRect/>
          </a:stretch>
        </p:blipFill>
        <p:spPr>
          <a:xfrm>
            <a:off x="528095" y="1824275"/>
            <a:ext cx="2013978" cy="617858"/>
          </a:xfrm>
          <a:prstGeom prst="rect">
            <a:avLst/>
          </a:prstGeom>
        </p:spPr>
      </p:pic>
      <p:pic>
        <p:nvPicPr>
          <p:cNvPr id="13" name="图片 12">
            <a:extLst>
              <a:ext uri="{FF2B5EF4-FFF2-40B4-BE49-F238E27FC236}">
                <a16:creationId xmlns:a16="http://schemas.microsoft.com/office/drawing/2014/main" id="{1BD140B9-8400-00E6-0A28-FFAFE57D23CF}"/>
              </a:ext>
            </a:extLst>
          </p:cNvPr>
          <p:cNvPicPr>
            <a:picLocks noChangeAspect="1"/>
          </p:cNvPicPr>
          <p:nvPr/>
        </p:nvPicPr>
        <p:blipFill>
          <a:blip r:embed="rId7"/>
          <a:stretch>
            <a:fillRect/>
          </a:stretch>
        </p:blipFill>
        <p:spPr>
          <a:xfrm>
            <a:off x="900821" y="2593675"/>
            <a:ext cx="3348300" cy="1354700"/>
          </a:xfrm>
          <a:prstGeom prst="rect">
            <a:avLst/>
          </a:prstGeom>
        </p:spPr>
      </p:pic>
      <p:pic>
        <p:nvPicPr>
          <p:cNvPr id="14" name="图片 13">
            <a:extLst>
              <a:ext uri="{FF2B5EF4-FFF2-40B4-BE49-F238E27FC236}">
                <a16:creationId xmlns:a16="http://schemas.microsoft.com/office/drawing/2014/main" id="{D9F5CDC4-C4A6-D014-A3A7-00F9C7CA58FC}"/>
              </a:ext>
            </a:extLst>
          </p:cNvPr>
          <p:cNvPicPr>
            <a:picLocks noChangeAspect="1"/>
          </p:cNvPicPr>
          <p:nvPr/>
        </p:nvPicPr>
        <p:blipFill>
          <a:blip r:embed="rId8"/>
          <a:stretch>
            <a:fillRect/>
          </a:stretch>
        </p:blipFill>
        <p:spPr>
          <a:xfrm>
            <a:off x="988997" y="4174721"/>
            <a:ext cx="3389315" cy="1449974"/>
          </a:xfrm>
          <a:prstGeom prst="rect">
            <a:avLst/>
          </a:prstGeom>
        </p:spPr>
      </p:pic>
    </p:spTree>
    <p:extLst>
      <p:ext uri="{BB962C8B-B14F-4D97-AF65-F5344CB8AC3E}">
        <p14:creationId xmlns:p14="http://schemas.microsoft.com/office/powerpoint/2010/main" val="324643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4A167A3-E80E-4ED3-A67F-D900181E81C8}"/>
              </a:ext>
            </a:extLst>
          </p:cNvPr>
          <p:cNvSpPr/>
          <p:nvPr/>
        </p:nvSpPr>
        <p:spPr>
          <a:xfrm>
            <a:off x="0" y="1515573"/>
            <a:ext cx="12192000" cy="3826854"/>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8" name="文本框 7">
            <a:extLst>
              <a:ext uri="{FF2B5EF4-FFF2-40B4-BE49-F238E27FC236}">
                <a16:creationId xmlns:a16="http://schemas.microsoft.com/office/drawing/2014/main" id="{4262A2A6-6764-4650-AE75-A0A2F3B72049}"/>
              </a:ext>
            </a:extLst>
          </p:cNvPr>
          <p:cNvSpPr txBox="1"/>
          <p:nvPr/>
        </p:nvSpPr>
        <p:spPr>
          <a:xfrm>
            <a:off x="2248522" y="2670712"/>
            <a:ext cx="7723981" cy="1054584"/>
          </a:xfrm>
          <a:prstGeom prst="rect">
            <a:avLst/>
          </a:prstGeom>
          <a:noFill/>
        </p:spPr>
        <p:txBody>
          <a:bodyPr wrap="square" rtlCol="0">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zh-CN" altLang="en-US" sz="6000" b="1" i="0" u="none" strike="noStrike" kern="1200" cap="none" spc="400" normalizeH="0" baseline="0" noProof="0" dirty="0">
                <a:ln>
                  <a:noFill/>
                </a:ln>
                <a:solidFill>
                  <a:prstClr val="white"/>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谢谢大家</a:t>
            </a:r>
          </a:p>
        </p:txBody>
      </p:sp>
      <p:sp>
        <p:nvSpPr>
          <p:cNvPr id="9" name="TextBox 37">
            <a:extLst>
              <a:ext uri="{FF2B5EF4-FFF2-40B4-BE49-F238E27FC236}">
                <a16:creationId xmlns:a16="http://schemas.microsoft.com/office/drawing/2014/main" id="{CD20A932-451D-4F29-8AD4-66924D77A80E}"/>
              </a:ext>
            </a:extLst>
          </p:cNvPr>
          <p:cNvSpPr txBox="1"/>
          <p:nvPr/>
        </p:nvSpPr>
        <p:spPr>
          <a:xfrm>
            <a:off x="4316302" y="4528428"/>
            <a:ext cx="355939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北京航空航天大学</a:t>
            </a:r>
          </a:p>
        </p:txBody>
      </p:sp>
      <p:cxnSp>
        <p:nvCxnSpPr>
          <p:cNvPr id="10" name="直接连接符 9">
            <a:extLst>
              <a:ext uri="{FF2B5EF4-FFF2-40B4-BE49-F238E27FC236}">
                <a16:creationId xmlns:a16="http://schemas.microsoft.com/office/drawing/2014/main" id="{A4C0716F-AF22-44EE-8D0B-43E1638CE05F}"/>
              </a:ext>
            </a:extLst>
          </p:cNvPr>
          <p:cNvCxnSpPr/>
          <p:nvPr/>
        </p:nvCxnSpPr>
        <p:spPr>
          <a:xfrm>
            <a:off x="5875564" y="5029199"/>
            <a:ext cx="44087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7B679737-0AC2-4D5E-83CC-F1352AC76C63}"/>
              </a:ext>
            </a:extLst>
          </p:cNvPr>
          <p:cNvSpPr txBox="1"/>
          <p:nvPr/>
        </p:nvSpPr>
        <p:spPr>
          <a:xfrm>
            <a:off x="2467429" y="3687574"/>
            <a:ext cx="7271658" cy="381579"/>
          </a:xfrm>
          <a:prstGeom prst="rect">
            <a:avLst/>
          </a:prstGeom>
          <a:noFill/>
        </p:spPr>
        <p:txBody>
          <a:bodyPr wrap="square" rtlCol="0">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THANKS </a:t>
            </a:r>
          </a:p>
        </p:txBody>
      </p:sp>
      <p:sp>
        <p:nvSpPr>
          <p:cNvPr id="6" name="椭圆 5">
            <a:extLst>
              <a:ext uri="{FF2B5EF4-FFF2-40B4-BE49-F238E27FC236}">
                <a16:creationId xmlns:a16="http://schemas.microsoft.com/office/drawing/2014/main" id="{0F8B02C2-C055-4B58-ADE3-F225E1BD55D6}"/>
              </a:ext>
            </a:extLst>
          </p:cNvPr>
          <p:cNvSpPr/>
          <p:nvPr/>
        </p:nvSpPr>
        <p:spPr>
          <a:xfrm>
            <a:off x="5197121" y="602182"/>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pic>
        <p:nvPicPr>
          <p:cNvPr id="37" name="图片 36">
            <a:extLst>
              <a:ext uri="{FF2B5EF4-FFF2-40B4-BE49-F238E27FC236}">
                <a16:creationId xmlns:a16="http://schemas.microsoft.com/office/drawing/2014/main" id="{C16A7BFB-4CAC-44F5-9BC0-9FAA1722B0D8}"/>
              </a:ext>
            </a:extLst>
          </p:cNvPr>
          <p:cNvPicPr>
            <a:picLocks noChangeAspect="1"/>
          </p:cNvPicPr>
          <p:nvPr/>
        </p:nvPicPr>
        <p:blipFill rotWithShape="1">
          <a:blip r:embed="rId3"/>
          <a:srcRect l="23738" t="3312" r="23201" b="2357"/>
          <a:stretch/>
        </p:blipFill>
        <p:spPr>
          <a:xfrm>
            <a:off x="5303560" y="723133"/>
            <a:ext cx="1584880" cy="1584880"/>
          </a:xfrm>
          <a:prstGeom prst="ellipse">
            <a:avLst/>
          </a:prstGeom>
        </p:spPr>
      </p:pic>
      <p:sp>
        <p:nvSpPr>
          <p:cNvPr id="2" name="TextBox 26">
            <a:extLst>
              <a:ext uri="{FF2B5EF4-FFF2-40B4-BE49-F238E27FC236}">
                <a16:creationId xmlns:a16="http://schemas.microsoft.com/office/drawing/2014/main" id="{57EBD62A-1FC5-B103-62F6-35B31C12979A}"/>
              </a:ext>
            </a:extLst>
          </p:cNvPr>
          <p:cNvSpPr txBox="1"/>
          <p:nvPr/>
        </p:nvSpPr>
        <p:spPr>
          <a:xfrm>
            <a:off x="3507718" y="5734757"/>
            <a:ext cx="519107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王梓源</a:t>
            </a:r>
            <a:r>
              <a:rPr kumimoji="0" lang="en-US" altLang="zh-CN" sz="20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	    2025.12.10</a:t>
            </a:r>
            <a:endParaRPr kumimoji="0" lang="zh-CN" altLang="en-US" sz="20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2032908636"/>
      </p:ext>
    </p:extLst>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7347</TotalTime>
  <Words>426</Words>
  <Application>Microsoft Office PowerPoint</Application>
  <PresentationFormat>宽屏</PresentationFormat>
  <Paragraphs>79</Paragraphs>
  <Slides>13</Slides>
  <Notes>12</Notes>
  <HiddenSlides>0</HiddenSlides>
  <MMClips>0</MMClips>
  <ScaleCrop>false</ScaleCrop>
  <HeadingPairs>
    <vt:vector size="8" baseType="variant">
      <vt:variant>
        <vt:lpstr>已用的字体</vt:lpstr>
      </vt:variant>
      <vt:variant>
        <vt:i4>4</vt:i4>
      </vt:variant>
      <vt:variant>
        <vt:lpstr>主题</vt:lpstr>
      </vt:variant>
      <vt:variant>
        <vt:i4>2</vt:i4>
      </vt:variant>
      <vt:variant>
        <vt:lpstr>嵌入 OLE 服务器</vt:lpstr>
      </vt:variant>
      <vt:variant>
        <vt:i4>1</vt:i4>
      </vt:variant>
      <vt:variant>
        <vt:lpstr>幻灯片标题</vt:lpstr>
      </vt:variant>
      <vt:variant>
        <vt:i4>13</vt:i4>
      </vt:variant>
    </vt:vector>
  </HeadingPairs>
  <TitlesOfParts>
    <vt:vector size="20" baseType="lpstr">
      <vt:lpstr>等线</vt:lpstr>
      <vt:lpstr>微软雅黑</vt:lpstr>
      <vt:lpstr>Arial</vt:lpstr>
      <vt:lpstr>Times New Roman</vt:lpstr>
      <vt:lpstr>自定义设计方案</vt:lpstr>
      <vt:lpstr>1_OfficePLUS</vt:lpstr>
      <vt:lpstr>Equation</vt:lpstr>
      <vt:lpstr>PowerPoint 演示文稿</vt:lpstr>
      <vt:lpstr>RLVR-Decomposed</vt:lpstr>
      <vt:lpstr>RLVR-Decomposed</vt:lpstr>
      <vt:lpstr>RLVR-Decomposed</vt:lpstr>
      <vt:lpstr>RLVR-Decomposed</vt:lpstr>
      <vt:lpstr>RLVR-Decomposed</vt:lpstr>
      <vt:lpstr>RLVR-Decomposed</vt:lpstr>
      <vt:lpstr>RLVR-Decomposed</vt:lpstr>
      <vt:lpstr>RLVR-Decomposed</vt:lpstr>
      <vt:lpstr>RLVR-Decomposed</vt:lpstr>
      <vt:lpstr>RLVR-Decomposed</vt:lpstr>
      <vt:lpstr>RLVR-Decomposed</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keywords/>
  <cp:lastModifiedBy>Zinn W</cp:lastModifiedBy>
  <cp:revision>716</cp:revision>
  <dcterms:created xsi:type="dcterms:W3CDTF">2018-12-09T14:29:24Z</dcterms:created>
  <dcterms:modified xsi:type="dcterms:W3CDTF">2025-12-10T08:14:05Z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